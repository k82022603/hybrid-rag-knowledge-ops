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5029200"/>
            <a:ext cx="4572000" cy="22860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73152" cy="1645920"/>
          </a:xfrm>
          <a:prstGeom prst="rect">
            <a:avLst/>
          </a:prstGeom>
          <a:solidFill>
            <a:srgbClr val="CD8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Hybrid RAG Knowledge Platform</a:t>
            </a:r>
          </a:p>
          <a:p>
            <a:pPr>
              <a:defRPr sz="3200" b="1">
                <a:solidFill>
                  <a:srgbClr val="CD853F"/>
                </a:solidFill>
                <a:latin typeface="맑은 고딕"/>
              </a:defRPr>
            </a:pPr>
            <a:r>
              <a:t>통합 상세 설계서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EBDC"/>
                </a:solidFill>
                <a:latin typeface="맑은 고딕"/>
              </a:defRPr>
            </a:pPr>
            <a:r>
              <a:t>Vector + Graph 기반 차세대 지식 검색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5EBDC"/>
                </a:solidFill>
                <a:latin typeface="맑은 고딕"/>
              </a:defRPr>
            </a:pPr>
            <a:r>
              <a:t>2026-01-16  |  Version 1.0  |  Final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CD853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Executive Summary - 프로젝트 비전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152000"/>
            <a:ext cx="7200000" cy="648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260000"/>
            <a:ext cx="684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"기업 지식의 80%가 잠들어 있는 문서에서, AI가 즉시 답을 찾아드립니다"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2088000"/>
            <a:ext cx="1728000" cy="360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💰 비용 효율성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520000"/>
            <a:ext cx="17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E2723"/>
                </a:solidFill>
                <a:latin typeface="맑은 고딕"/>
              </a:defRPr>
            </a:pPr>
            <a:r>
              <a:t>• DeepSeek 단일 모델</a:t>
            </a:r>
          </a:p>
          <a:p>
            <a:pPr>
              <a:defRPr sz="800">
                <a:solidFill>
                  <a:srgbClr val="3E2723"/>
                </a:solidFill>
                <a:latin typeface="맑은 고딕"/>
              </a:defRPr>
            </a:pPr>
            <a:r>
              <a:t>• LLM 비용 95% 절감</a:t>
            </a:r>
          </a:p>
          <a:p>
            <a:pPr>
              <a:defRPr sz="800">
                <a:solidFill>
                  <a:srgbClr val="3E2723"/>
                </a:solidFill>
                <a:latin typeface="맑은 고딕"/>
              </a:defRPr>
            </a:pPr>
            <a:r>
              <a:t>• 연간 ~$14,000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60000" y="2088000"/>
            <a:ext cx="1728000" cy="3600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🎯 정확한 검색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2520000"/>
            <a:ext cx="17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E2723"/>
                </a:solidFill>
                <a:latin typeface="맑은 고딕"/>
              </a:defRPr>
            </a:pPr>
            <a:r>
              <a:t>• Vector + Graph 융합</a:t>
            </a:r>
          </a:p>
          <a:p>
            <a:pPr>
              <a:defRPr sz="800">
                <a:solidFill>
                  <a:srgbClr val="3E2723"/>
                </a:solidFill>
                <a:latin typeface="맑은 고딕"/>
              </a:defRPr>
            </a:pPr>
            <a:r>
              <a:t>• RRF 재순위 알고리즘</a:t>
            </a:r>
          </a:p>
          <a:p>
            <a:pPr>
              <a:defRPr sz="800">
                <a:solidFill>
                  <a:srgbClr val="3E2723"/>
                </a:solidFill>
                <a:latin typeface="맑은 고딕"/>
              </a:defRPr>
            </a:pPr>
            <a:r>
              <a:t>• Precision@5 &gt; 85%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0000" y="2088000"/>
            <a:ext cx="1728000" cy="3600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🔐 기업 보안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2520000"/>
            <a:ext cx="17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E2723"/>
                </a:solidFill>
                <a:latin typeface="맑은 고딕"/>
              </a:defRPr>
            </a:pPr>
            <a:r>
              <a:t>• OAuth 2.0 + PKCE</a:t>
            </a:r>
          </a:p>
          <a:p>
            <a:pPr>
              <a:defRPr sz="800">
                <a:solidFill>
                  <a:srgbClr val="3E2723"/>
                </a:solidFill>
                <a:latin typeface="맑은 고딕"/>
              </a:defRPr>
            </a:pPr>
            <a:r>
              <a:t>• AES-256-GCM 암호화</a:t>
            </a:r>
          </a:p>
          <a:p>
            <a:pPr>
              <a:defRPr sz="800">
                <a:solidFill>
                  <a:srgbClr val="3E2723"/>
                </a:solidFill>
                <a:latin typeface="맑은 고딕"/>
              </a:defRPr>
            </a:pPr>
            <a:r>
              <a:t>• RBAC 권한 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0" y="2088000"/>
            <a:ext cx="1728000" cy="360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📈 확장 가능성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0" y="2520000"/>
            <a:ext cx="17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E2723"/>
                </a:solidFill>
                <a:latin typeface="맑은 고딕"/>
              </a:defRPr>
            </a:pPr>
            <a:r>
              <a:t>• Docker → K8s 경로</a:t>
            </a:r>
          </a:p>
          <a:p>
            <a:pPr>
              <a:defRPr sz="800">
                <a:solidFill>
                  <a:srgbClr val="3E2723"/>
                </a:solidFill>
                <a:latin typeface="맑은 고딕"/>
              </a:defRPr>
            </a:pPr>
            <a:r>
              <a:t>• 마이크로서비스 구조</a:t>
            </a:r>
          </a:p>
          <a:p>
            <a:pPr>
              <a:defRPr sz="800">
                <a:solidFill>
                  <a:srgbClr val="3E2723"/>
                </a:solidFill>
                <a:latin typeface="맑은 고딕"/>
              </a:defRPr>
            </a:pPr>
            <a:r>
              <a:t>• API 기반 통합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Hybrid RAG 기술이란?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Vector Search: 의미적 유사도 기반 검색 (BGE-M3 임베딩)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Graph Search: 엔티티 관계 기반 확장 검색 (Neo4j)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RRF 융합: 두 검색 결과를 Reciprocal Rank로 통합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기존 키워드 검색 대비 정확도 40% 이상 향상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비용 절감 원리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DeepSeek V3.2: GPT-4 대비 토큰당 95% 저렴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동일 품질 유지하면서 연간 $98,000 절감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단일 모델로 엔티티 추출 + 답변 합성 모두 처리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추가 Fine-tuning 불필요 → 운영 비용 최소화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기업 보안 강화 방안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Keycloak 기반 OAuth 2.0 + PKCE 인증 적용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AES-256-GCM으로 민감 데이터 필드 암호화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RBAC 3단계 역할: Admin/Manager/User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TLS 1.3 전송 암호화 + HashiCorp Vault 키 관리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확장 전략 로드맵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1: Docker Compose 단일 서버 ($14K/년)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2: Redis Sentinel 캐시 이중화 ($20K/년)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3: Docker Swarm 3노드 클러스터 ($40K/년)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4: Kubernetes 풀 클러스터 ($100K/년)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핵심 목표 수치 (Key Metrics)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188000"/>
            <a:ext cx="1296000" cy="12600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332000"/>
            <a:ext cx="129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&lt; 3초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800000"/>
            <a:ext cx="129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응답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015999"/>
            <a:ext cx="12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(P95)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64000" y="1188000"/>
            <a:ext cx="1296000" cy="1260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000" y="1332000"/>
            <a:ext cx="129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&gt; 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000" y="1800000"/>
            <a:ext cx="129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검색 정확도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000" y="2015999"/>
            <a:ext cx="12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(Precision@5)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8000" y="1188000"/>
            <a:ext cx="1296000" cy="1260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8000" y="1332000"/>
            <a:ext cx="129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95%↓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8000" y="1800000"/>
            <a:ext cx="129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LLM 비용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8000" y="2015999"/>
            <a:ext cx="12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(GPT-4 대비)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188000"/>
            <a:ext cx="1296000" cy="1260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332000"/>
            <a:ext cx="129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99.5%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800000"/>
            <a:ext cx="129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가용성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15999"/>
            <a:ext cx="12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(SLA)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76000" y="1188000"/>
            <a:ext cx="1296000" cy="1260000"/>
          </a:xfrm>
          <a:prstGeom prst="round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6000" y="1332000"/>
            <a:ext cx="1296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100명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6000" y="1800000"/>
            <a:ext cx="1296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동시 사용자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6000" y="2015999"/>
            <a:ext cx="12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DCDCDC"/>
                </a:solidFill>
              </a:defRPr>
            </a:pPr>
            <a:r>
              <a:t>(1단계)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2700000"/>
            <a:ext cx="36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E2723"/>
                </a:solidFill>
              </a:defRPr>
            </a:pPr>
            <a:r>
              <a:t>📊 연간 비용 비교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60000" y="2951999"/>
          <a:ext cx="6840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000"/>
                <a:gridCol w="1710000"/>
                <a:gridCol w="1710000"/>
                <a:gridCol w="171000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GPT-4 사용 시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DeepSeek 사용 시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절감액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LLM API 비용</a:t>
                      </a:r>
                    </a:p>
                  </a:txBody>
                  <a:tcPr>
                    <a:solidFill>
                      <a:srgbClr val="F5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$100,000</a:t>
                      </a:r>
                    </a:p>
                  </a:txBody>
                  <a:tcPr>
                    <a:solidFill>
                      <a:srgbClr val="F5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F5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$98,200 (98%)</a:t>
                      </a:r>
                    </a:p>
                  </a:txBody>
                  <a:tcPr>
                    <a:solidFill>
                      <a:srgbClr val="F5EBD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총 운영 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$114,000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$14,040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$99,960 (88%)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응답 시간 &lt; 3초 (P95)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Hybrid 검색(ES + Neo4j 병렬) 실행 시간: ~1초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DeepSeek 답변 합성 시간: ~1.5초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네트워크 + 기타 오버헤드: ~0.5초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전체 P95 기준 3초 이내 완료 목표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검색 정확도 &gt; 85% (Precision@5)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상위 5개 검색 결과 중 관련 문서 비율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Vector Search만 사용 시: ~70%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Graph Search 융합 후: 85%+ 목표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평가 방법: 수동 레이블링 테스트셋 200건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LLM 비용 95% 절감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GPT-4: $30/1M input + $60/1M output 토큰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DeepSeek: $0.14/1M input + $0.28/1M output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동일 사용량 기준 연간 $98,200 절감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품질 비교: MMLU 벤치마크 동등 수준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가용성 99.5% (SLA)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연간 허용 다운타임: 43.8시간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월간 허용 다운타임: 3.65시간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헬스체크 주기: 30초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장애 복구 목표 시간(RTO): 30분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CD853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시스템 아키텍처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시스템 아키텍처 (System Architecture)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00" y="1007999"/>
            <a:ext cx="7380000" cy="72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999" y="1044000"/>
            <a:ext cx="723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🌐 External Layer (외부 접점)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260000"/>
            <a:ext cx="1007999" cy="360000"/>
          </a:xfrm>
          <a:prstGeom prst="roundRect">
            <a:avLst/>
          </a:prstGeom>
          <a:solidFill>
            <a:srgbClr val="CD8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👤 사용자</a:t>
            </a:r>
            <a:br/>
            <a:r>
              <a:t>Web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8000" y="1332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0000" y="1260000"/>
            <a:ext cx="1080000" cy="360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🚪 Nginx</a:t>
            </a:r>
            <a:br/>
            <a:r>
              <a:t>SSL Termination</a:t>
            </a:r>
            <a:br/>
            <a:r>
              <a:t>Reverse Proxy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0000" y="1332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1999" y="1260000"/>
            <a:ext cx="1260000" cy="360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🔀 API Gateway</a:t>
            </a:r>
            <a:br/>
            <a:r>
              <a:t>JWT 검증</a:t>
            </a:r>
            <a:br/>
            <a:r>
              <a:t>Rate Limiting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2000" y="1332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0000" y="1260000"/>
            <a:ext cx="1080000" cy="3600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🔐 Keycloak</a:t>
            </a:r>
            <a:br/>
            <a:r>
              <a:t>OAuth 2.0 IdP</a:t>
            </a:r>
            <a:br/>
            <a:r>
              <a:t>PKCE 인증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0000" y="1260000"/>
            <a:ext cx="1260000" cy="360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🤖 DeepSeek API</a:t>
            </a:r>
            <a:br/>
            <a:r>
              <a:t>LLM 호출</a:t>
            </a:r>
            <a:br/>
            <a:r>
              <a:t>(External)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000" y="1800000"/>
            <a:ext cx="7380000" cy="827999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999" y="1835999"/>
            <a:ext cx="723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⚙️ Application Layer (애플리케이션 계층)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088000"/>
            <a:ext cx="1260000" cy="432000"/>
          </a:xfrm>
          <a:prstGeom prst="round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🖥️ Frontend</a:t>
            </a:r>
            <a:br/>
            <a:r>
              <a:t>React 18 + TypeScript</a:t>
            </a:r>
            <a:br/>
            <a:r>
              <a:t>MUI v5 / Redux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2196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8000" y="2088000"/>
            <a:ext cx="1440000" cy="432000"/>
          </a:xfrm>
          <a:prstGeom prst="round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⚙️ Backend</a:t>
            </a:r>
            <a:br/>
            <a:r>
              <a:t>Spring Boot 3.x</a:t>
            </a:r>
            <a:br/>
            <a:r>
              <a:t>Security / JPA</a:t>
            </a:r>
            <a:br/>
            <a:r>
              <a:t>Resilience4j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8000" y="2196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0" y="2088000"/>
            <a:ext cx="1620000" cy="432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🧠 AI Service</a:t>
            </a:r>
            <a:br/>
            <a:r>
              <a:t>FastAPI + LangGraph</a:t>
            </a:r>
            <a:br/>
            <a:r>
              <a:t>BGE-M3 Embedding</a:t>
            </a:r>
            <a:br/>
            <a:r>
              <a:t>Hybrid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0000" y="2196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0" y="1980000"/>
            <a:ext cx="180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196F3"/>
                </a:solidFill>
              </a:defRPr>
            </a:pPr>
            <a:r>
              <a:t>→ DeepSeek API 호출 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0000" y="2700000"/>
            <a:ext cx="7380000" cy="90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999" y="2736000"/>
            <a:ext cx="723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💾 Data Layer (데이터 계층)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" y="2988000"/>
            <a:ext cx="1080000" cy="468000"/>
          </a:xfrm>
          <a:prstGeom prst="roundRect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🐘 PostgreSQL 16</a:t>
            </a:r>
            <a:br/>
            <a:r>
              <a:t>SSOT (원본 데이터)</a:t>
            </a:r>
            <a:br/>
            <a:r>
              <a:t>사용자/문서/설정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48000" y="2988000"/>
            <a:ext cx="1260000" cy="468000"/>
          </a:xfrm>
          <a:prstGeom prst="roundRect">
            <a:avLst/>
          </a:prstGeom>
          <a:solidFill>
            <a:srgbClr val="00A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🔍 Elasticsearch 8</a:t>
            </a:r>
            <a:br/>
            <a:r>
              <a:t>Vector Search</a:t>
            </a:r>
            <a:br/>
            <a:r>
              <a:t>1024 dims 임베딩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000" y="2988000"/>
            <a:ext cx="1080000" cy="468000"/>
          </a:xfrm>
          <a:prstGeom prst="roundRect">
            <a:avLst/>
          </a:prstGeom>
          <a:solidFill>
            <a:srgbClr val="00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🕸️ Neo4j 5</a:t>
            </a:r>
            <a:br/>
            <a:r>
              <a:t>Graph DB</a:t>
            </a:r>
            <a:br/>
            <a:r>
              <a:t>엔티티/관계 저장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31999" y="2988000"/>
            <a:ext cx="900000" cy="468000"/>
          </a:xfrm>
          <a:prstGeom prst="roundRect">
            <a:avLst/>
          </a:prstGeom>
          <a:solidFill>
            <a:srgbClr val="DC3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💾 Redis 7</a:t>
            </a:r>
            <a:br/>
            <a:r>
              <a:t>Cache</a:t>
            </a:r>
            <a:br/>
            <a:r>
              <a:t>Session 관리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0000" y="2988000"/>
            <a:ext cx="1007999" cy="4680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📦 MinIO</a:t>
            </a:r>
            <a:br/>
            <a:r>
              <a:t>File Storage</a:t>
            </a:r>
            <a:br/>
            <a:r>
              <a:t>S3 호환 API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0000" y="2988000"/>
            <a:ext cx="1260000" cy="46800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🔑 Vault</a:t>
            </a:r>
            <a:br/>
            <a:r>
              <a:t>Key Management</a:t>
            </a:r>
            <a:br/>
            <a:r>
              <a:t>암호화 키 관리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0000" y="3671999"/>
            <a:ext cx="5040000" cy="72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999" y="3707999"/>
            <a:ext cx="48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📊 Monitoring Layer (모니터링 계층)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0000" y="3924000"/>
            <a:ext cx="1080000" cy="360000"/>
          </a:xfrm>
          <a:prstGeom prst="roundRect">
            <a:avLst/>
          </a:prstGeom>
          <a:solidFill>
            <a:srgbClr val="E654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📊 Prometheus</a:t>
            </a:r>
            <a:br/>
            <a:r>
              <a:t>Metrics 수집</a:t>
            </a:r>
            <a:br/>
            <a:r>
              <a:t>Alertmanager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48000" y="3924000"/>
            <a:ext cx="1080000" cy="360000"/>
          </a:xfrm>
          <a:prstGeom prst="roundRect">
            <a:avLst/>
          </a:prstGeom>
          <a:solidFill>
            <a:srgbClr val="F190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📈 Grafana</a:t>
            </a:r>
            <a:br/>
            <a:r>
              <a:t>Dashboard</a:t>
            </a:r>
            <a:br/>
            <a:r>
              <a:t>시각화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36000" y="3924000"/>
            <a:ext cx="1080000" cy="360000"/>
          </a:xfrm>
          <a:prstGeom prst="roundRect">
            <a:avLst/>
          </a:prstGeom>
          <a:solidFill>
            <a:srgbClr val="8C5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📝 Loki</a:t>
            </a:r>
            <a:br/>
            <a:r>
              <a:t>Log 집계</a:t>
            </a:r>
            <a:br/>
            <a:r>
              <a:t>중앙화 로깅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24000" y="3924000"/>
            <a:ext cx="1007999" cy="360000"/>
          </a:xfrm>
          <a:prstGeom prst="roundRect">
            <a:avLst/>
          </a:prstGeom>
          <a:solidFill>
            <a:srgbClr val="AA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🔍 Promtail</a:t>
            </a:r>
            <a:br/>
            <a:r>
              <a:t>Log 수집</a:t>
            </a:r>
            <a:br/>
            <a:r>
              <a:t>에이전트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External Layer (외부 접점)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Nginx: SSL 인증서 관리, 정적 파일 서빙, 리버스 프록시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API Gateway: JWT 토큰 검증, Rate Limiting(분당 100회)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Keycloak: OAuth 2.0 + PKCE 인증, 사용자 관리, SSO 지원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DeepSeek API: 외부 LLM 서비스, AI Service에서만 호출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Application Layer (애플리케이션)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Frontend: React SPA, MUI 컴포넌트, Redux 상태관리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Backend: 비즈니스 로직, 트랜잭션 관리, AI Service 연동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AI Service: 임베딩 생성, Hybrid 검색, 답변 합성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서비스 분리: SpringBoot ↔ AI Service REST API 통신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Data Layer (데이터 계층)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PostgreSQL: SSOT(Single Source of Truth), 마스터 데이터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Elasticsearch: Vector Search용 비정규화 인덱스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Neo4j: 엔티티-관계 그래프, Graph Search용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Redis: 세션 캐시, API 응답 캐시, 분산 락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MinIO: 문서 파일 저장소, S3 호환 API 제공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Monitoring Layer (모니터링)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Prometheus: 메트릭 수집 (CPU, Memory, API Latency)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Grafana: 대시보드 시각화, 알림 설정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Loki: 중앙화 로그 집계, 로그 검색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Alertmanager: 임계치 초과 시 Slack/Email 알림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5. 핵심 설계 원칙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Zero-Join: 검색 시 DB 조인 없이 단일 인덱스 조회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비정규화: PostgreSQL → ES/Neo4j 데이터 복제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서비스 분리: SpringBoot는 LLM 직접 호출 금지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장애 격리: Circuit Breaker로 AI Service 장애 전파 방지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아키텍처 장점 (Architecture Advantages)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00" y="1080000"/>
            <a:ext cx="1980000" cy="288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💰 비용 효율성 (95% 절감)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8000" y="111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DeepSeek V3.2: GPT-4 대비 토큰당 95% 저렴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8000" y="129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연간 LLM 비용: $100,000 → $1,800 절감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8000" y="1475999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인프라 비용: K8s 대비 86% 절감 ($100K → $14K)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8000" y="1655999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단일 모델로 엔티티 추출 + 답변 합성 처리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" y="1980000"/>
            <a:ext cx="1980000" cy="2880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🎯 검색 정확도 향상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8000" y="2015999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Vector Search: 의미적 유사도 기반 검색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8000" y="219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Graph Search: 엔티티 관계 기반 확장 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8000" y="237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RRF 융합: 두 검색 결과 최적 통합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8000" y="255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목표: Precision@5 &gt; 85%, 기존 대비 40%↑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000" y="2880000"/>
            <a:ext cx="1980000" cy="2880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🔐 기업 보안 강화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8000" y="291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Keycloak: OAuth 2.0 + PKCE 인증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8000" y="309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AES-256-GCM: 민감 데이터 필드 암호화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8000" y="327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RBAC: 역할 기반 접근 제어 (Admin/Manager/User)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8000" y="345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TLS 1.3 + Vault: 전송 암호화 + 키 관리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0000" y="3780000"/>
            <a:ext cx="1980000" cy="288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📈 점진적 확장 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8000" y="381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Phase 1: Docker Compose 단일 서버 ($14K/년)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8000" y="399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Phase 2: Redis Sentinel 캐시 이중화 ($20K/년)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8000" y="417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Phase 3: Docker Swarm 3노드 ($40K/년)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8000" y="4356000"/>
            <a:ext cx="46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Phase 4: Kubernetes 풀 클러스터 ($100K/년)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비용 효율성 핵심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DeepSeek V3.2: $0.14/1M input, $0.28/1M output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GPT-4: $30/1M input, $60/1M output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동일 사용량 기준 연간 $98,200 절감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MMLU 벤치마크: DeepSeek ≈ GPT-4 품질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Hybrid 검색 장점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Vector만: 관계 질의 ('A의 담당자') 검색 불가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Graph만: 유사 표현 ('책임자' ≈ '담당자') 검색 불가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융합 효과: 상호 보완으로 정확도 20%+ 향상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RRF: 두 검색에서 모두 상위인 문서 우선 선정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보안 설계 원칙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Zero Trust: 모든 요청에 인증/인가 검증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PKCE: Authorization Code 탈취 공격 방지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계층 암호화: 전송(TLS) + 필드(AES) + 저장(TDE)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키 관리: HashiCorp Vault 중앙 집중 관리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확장 트리거 조건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2: 동시 사용자 100+, 일일 요청 10,000+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3: 동시 사용자 500+, 일일 요청 50,000+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4: 동시 사용자 1,000+, 일일 요청 200,000+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원칙: 실제 트래픽 기반 점진적 투자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CD853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플랫폼 핵심 설계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VIP 3단계 LLM 아키텍처 (Value-Intelligent-Planning)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00" y="1080000"/>
            <a:ext cx="2160000" cy="288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999" y="1116000"/>
            <a:ext cx="2015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Stage 1: Value (가치 추출)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0" y="1080000"/>
            <a:ext cx="2160000" cy="288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92000" y="1116000"/>
            <a:ext cx="2015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Stage 2: Intelligent (지능형 검색)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60000" y="1080000"/>
            <a:ext cx="2160000" cy="288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2000" y="1116000"/>
            <a:ext cx="2015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Stage 3: Planning (답변 계획)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1440000"/>
            <a:ext cx="1800000" cy="288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📄 문서 업로드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1764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1908000"/>
            <a:ext cx="1800000" cy="2880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🔧 Docling 파싱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2232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2376000"/>
            <a:ext cx="1800000" cy="2880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✂️ 청킹 (500자)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270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844000"/>
            <a:ext cx="1800000" cy="2880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🤖 DeepSeek 엔티티 추출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316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3311999"/>
            <a:ext cx="1800000" cy="288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💎 지식 그래프 구축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00000" y="1440000"/>
            <a:ext cx="1800000" cy="288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❓ 사용자 질문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0000" y="1764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0000" y="1908000"/>
            <a:ext cx="1800000" cy="2880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🧠 질의 의도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0000" y="2232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00000" y="2376000"/>
            <a:ext cx="1800000" cy="2880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🎯 검색 전략 수립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0000" y="270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00000" y="2844000"/>
            <a:ext cx="1800000" cy="288000"/>
          </a:xfrm>
          <a:prstGeom prst="roundRect">
            <a:avLst/>
          </a:prstGeom>
          <a:solidFill>
            <a:srgbClr val="F9B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E2723"/>
                </a:solidFill>
                <a:latin typeface="맑은 고딕"/>
              </a:defRPr>
            </a:pPr>
            <a:r>
              <a:t>🔍 Vector 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00000" y="3168000"/>
            <a:ext cx="1800000" cy="288000"/>
          </a:xfrm>
          <a:prstGeom prst="roundRect">
            <a:avLst/>
          </a:prstGeom>
          <a:solidFill>
            <a:srgbClr val="0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🕸️ Graph 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00000" y="3491999"/>
            <a:ext cx="1800000" cy="180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⚡ 병렬 실행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0000" y="1440000"/>
            <a:ext cx="1800000" cy="288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📊 검색 결과 수신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0" y="1764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40000" y="1908000"/>
            <a:ext cx="1800000" cy="2880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⚡ RRF 융합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000" y="2232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40000" y="2376000"/>
            <a:ext cx="1800000" cy="28800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📝 컨텍스트 구성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000" y="270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40000" y="2844000"/>
            <a:ext cx="1800000" cy="2880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🤖 DeepSeek 답변 합성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000" y="316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40000" y="3311999"/>
            <a:ext cx="1800000" cy="288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💬 최종 답변 + 출처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60000" y="2340000"/>
            <a:ext cx="432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0000" y="2340000"/>
            <a:ext cx="432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Value 단계 (오프라인 처리)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문서 업로드 시 1회 실행되는 오프라인 파이프라인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Docling: PDF/DOCX/PPT 등 다양한 포맷 파싱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청킹: 500자 단위 + 50자 오버랩으로 분할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DeepSeek 추출: 엔티티(Person, Project, Tech) + 관계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결과 저장: Elasticsearch(벡터), Neo4j(그래프)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Intelligent 단계 (온라인 처리)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사용자 질문 입력 시 실시간 실행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의도 분석: 사실 질의 vs 비교 질의 vs 요약 질의 분류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검색 전략: Vector/Graph 가중치 동적 결정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Vector Search: BGE-M3 임베딩으로 의미 유사도 검색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Graph Search: Cypher 쿼리로 엔티티 관계 탐색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병렬 실행: ES + Neo4j 동시 조회로 응답 시간 최소화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Planning 단계 (답변 생성)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RRF 융합: Reciprocal Rank Fusion으로 결과 통합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Top-10 선정: 최종 컨텍스트 구성용 문서 선별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프롬프트 구성: 시스템 지시 + 컨텍스트 + 질문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DeepSeek 호출: 답변 합성 요청 (최대 4K 토큰)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출처 첨부: 참조 문서 목록과 함께 응답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비용 최적화 포인트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단일 모델(DeepSeek)로 추출 + 합성 모두 처리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오프라인 추출: 업로드 시 1회만 실행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캐싱: 동일 질의 결과 Redis 캐시 (TTL 1시간)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결과: GPT-4 대비 95% 비용 절감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Hybrid Search 융합 (Vector + Graph)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20000" y="1080000"/>
            <a:ext cx="2160000" cy="432000"/>
          </a:xfrm>
          <a:prstGeom prst="round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❓ 사용자 질의 입력</a:t>
            </a:r>
            <a:br/>
            <a:r>
              <a:t>"프로젝트 A의 담당자가 작성한 기술 문서는?"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0000" y="154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54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" y="1800000"/>
            <a:ext cx="3240000" cy="144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999" y="1835999"/>
            <a:ext cx="30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🔍 Vector Search (의미 기반)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088000"/>
            <a:ext cx="2880000" cy="251999"/>
          </a:xfrm>
          <a:prstGeom prst="roundRect">
            <a:avLst/>
          </a:prstGeom>
          <a:solidFill>
            <a:srgbClr val="F9B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1. BGE-M3 임베딩 생성 (1024차원)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" y="2412000"/>
            <a:ext cx="2880000" cy="251999"/>
          </a:xfrm>
          <a:prstGeom prst="roundRect">
            <a:avLst/>
          </a:prstGeom>
          <a:solidFill>
            <a:srgbClr val="F9B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2. Elasticsearch knn 검색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736000"/>
            <a:ext cx="2880000" cy="251999"/>
          </a:xfrm>
          <a:prstGeom prst="roundRect">
            <a:avLst/>
          </a:prstGeom>
          <a:solidFill>
            <a:srgbClr val="F9B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3. 의미적 유사도 Top-20 반환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0" y="1800000"/>
            <a:ext cx="3420000" cy="144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1999" y="1835999"/>
            <a:ext cx="32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🕸️ Graph Search (관계 기반)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80000" y="2088000"/>
            <a:ext cx="3060000" cy="251999"/>
          </a:xfrm>
          <a:prstGeom prst="roundRect">
            <a:avLst/>
          </a:prstGeom>
          <a:solidFill>
            <a:srgbClr val="0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1. 엔티티 추출 (프로젝트 A, 담당자)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0000" y="2412000"/>
            <a:ext cx="3060000" cy="251999"/>
          </a:xfrm>
          <a:prstGeom prst="roundRect">
            <a:avLst/>
          </a:prstGeom>
          <a:solidFill>
            <a:srgbClr val="0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2. Neo4j Cypher 관계 탐색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0000" y="2736000"/>
            <a:ext cx="3060000" cy="251999"/>
          </a:xfrm>
          <a:prstGeom prst="roundRect">
            <a:avLst/>
          </a:prstGeom>
          <a:solidFill>
            <a:srgbClr val="0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3. 연관 문서 Top-20 반환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2340000"/>
            <a:ext cx="1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</a:defRPr>
            </a:pPr>
            <a:r>
              <a:t>⚡ 병렬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324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00" y="324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80000" y="3528000"/>
            <a:ext cx="3240000" cy="4680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⚡ RRF (Reciprocal Rank Fusion)</a:t>
            </a:r>
            <a:br/>
            <a:r>
              <a:t>score = Σ 1/(k+rank), k=60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80000" y="4068000"/>
            <a:ext cx="3240000" cy="324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📊 통합 검색 결과 (Top-10) → 답변 생성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Vector Search 특징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BGE-M3: 다국어 지원 임베딩 모델 (1024차원)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Elasticsearch knn: 근사 최근접 이웃 검색 (HNSW)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장점: 동의어, 유사 표현, 의미적 유사 문서 검색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약점: '프로젝트 A 담당자' 같은 관계 질의에 부족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결과: 의미적으로 유사한 문서 Top-20 반환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Graph Search 특징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엔티티 추출: 질문에서 Person, Project, Tech 식별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Neo4j Cypher: 엔티티 간 관계 탐색 쿼리 실행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장점: '담당자가 작성한' 같은 관계 기반 검색 강점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약점: 유사 표현, 동의어 검색에 제한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결과: 관계로 연결된 문서 Top-20 반환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RRF 융합 알고리즘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공식: score(d) = Σ 1/(k + rank(d))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k=60: 순위 차이의 민감도 조절 파라미터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예: Vector 1위 + Graph 3위 = 1/61 + 1/63 = 0.032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효과: 두 검색에서 모두 상위인 문서 우선 선정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출력: 융합 점수 기준 Top-10 최종 선정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융합의 효과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Vector만 사용: Precision@5 약 70%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Graph만 사용: Precision@5 약 65%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Hybrid 융합: Precision@5 85%+ 목표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상호 보완: Vector가 놓친 관계 문서를 Graph가 보완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정확도 향상: 단일 검색 대비 20%+ 정확도 개선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검색 데이터 흐름 (Search Flow)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152000"/>
            <a:ext cx="1007999" cy="648000"/>
          </a:xfrm>
          <a:prstGeom prst="roundRect">
            <a:avLst/>
          </a:prstGeom>
          <a:solidFill>
            <a:srgbClr val="CD8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① 사용자</a:t>
            </a:r>
            <a:br/>
            <a:br/>
            <a:r>
              <a:t>질문 입력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12000" y="1152000"/>
            <a:ext cx="1007999" cy="648000"/>
          </a:xfrm>
          <a:prstGeom prst="round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② Frontend</a:t>
            </a:r>
            <a:br/>
            <a:br/>
            <a:r>
              <a:t>API 호출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64000" y="1152000"/>
            <a:ext cx="1007999" cy="648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③ Gateway</a:t>
            </a:r>
            <a:br/>
            <a:br/>
            <a:r>
              <a:t>JWT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6000" y="1152000"/>
            <a:ext cx="1007999" cy="648000"/>
          </a:xfrm>
          <a:prstGeom prst="roundRect">
            <a:avLst/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④ Backend</a:t>
            </a:r>
            <a:br/>
            <a:br/>
            <a:r>
              <a:t>요청 전달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68000" y="1152000"/>
            <a:ext cx="1007999" cy="648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⑤ AI Service</a:t>
            </a:r>
            <a:br/>
            <a:br/>
            <a:r>
              <a:t>검색 실행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000" y="1152000"/>
            <a:ext cx="1007999" cy="648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⑥ DeepSeek</a:t>
            </a:r>
            <a:br/>
            <a:br/>
            <a:r>
              <a:t>답변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8000" y="136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0" y="136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1999" y="136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4000" y="136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6000" y="136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0000" y="1980000"/>
            <a:ext cx="7200000" cy="1872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999" y="2015999"/>
            <a:ext cx="705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⚡ AI Service 내부 처리 (병렬 검색 + RRF 융합 + 답변 합성)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2340000"/>
            <a:ext cx="1620000" cy="648000"/>
          </a:xfrm>
          <a:prstGeom prst="roundRect">
            <a:avLst/>
          </a:prstGeom>
          <a:solidFill>
            <a:srgbClr val="F9B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🔍 Elasticsearch</a:t>
            </a:r>
            <a:br/>
            <a:br/>
            <a:r>
              <a:t>Vector Search (knn)</a:t>
            </a:r>
            <a:br/>
            <a:r>
              <a:t>BGE-M3 유사도</a:t>
            </a:r>
            <a:br/>
            <a:r>
              <a:t>Top-20 반환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60000" y="2340000"/>
            <a:ext cx="1620000" cy="648000"/>
          </a:xfrm>
          <a:prstGeom prst="roundRect">
            <a:avLst/>
          </a:prstGeom>
          <a:solidFill>
            <a:srgbClr val="01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🕸️ Neo4j</a:t>
            </a:r>
            <a:br/>
            <a:br/>
            <a:r>
              <a:t>Graph Search</a:t>
            </a:r>
            <a:br/>
            <a:r>
              <a:t>Cypher 관계 탐색</a:t>
            </a:r>
            <a:br/>
            <a:r>
              <a:t>Top-20 반환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3060000"/>
            <a:ext cx="14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9800"/>
                </a:solidFill>
              </a:defRPr>
            </a:pPr>
            <a:r>
              <a:t>병렬 실행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0" y="252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60000" y="2340000"/>
            <a:ext cx="1440000" cy="64800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⚡ RRF 융합</a:t>
            </a:r>
            <a:br/>
            <a:br/>
            <a:r>
              <a:t>Reciprocal Rank</a:t>
            </a:r>
            <a:br/>
            <a:r>
              <a:t>Top-10 선정</a:t>
            </a:r>
            <a:br/>
            <a:r>
              <a:t>컨텍스트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0" y="252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80000" y="2340000"/>
            <a:ext cx="1620000" cy="648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🤖 DeepSeek</a:t>
            </a:r>
            <a:br/>
            <a:br/>
            <a:r>
              <a:t>답변 합성</a:t>
            </a:r>
            <a:br/>
            <a:r>
              <a:t>출처 첨부</a:t>
            </a:r>
            <a:br/>
            <a:r>
              <a:t>최종 응답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3240000"/>
            <a:ext cx="64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5A2B"/>
                </a:solidFill>
              </a:defRPr>
            </a:pPr>
            <a:r>
              <a:t>← 응답 흐름: DeepSeek → AI Service → Backend → Gateway → Frontend → 사용자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요청 흐름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사용자: 브라우저에서 질문 입력 및 전송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Frontend: React Query로 POST /api/v1/search/chat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Gateway: JWT 토큰 검증, Rate Limiting 체크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Backend: 요청 로깅, AI Service로 전달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AI Service: Hybrid 검색 및 답변 생성 수행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Gateway 역할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JWT 검증: RS256 서명 확인, 만료 체크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Rate Limiting: 사용자당 분당 100회 제한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요청 라우팅: /api/* → Backend, /auth/* → Keycloak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로깅: 요청/응답 메타데이터 기록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병렬 검색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Elasticsearch: knn 검색 (약 300ms)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Neo4j: Cypher 쿼리 (약 400ms)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병렬 실행: 총 소요 시간 max(300, 400) = 400ms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순차 실행 대비 약 40% 시간 절감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RRF 융합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입력: ES Top-20 + Neo4j Top-20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점수 계산: 1/(60+rank) 합산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중복 제거: 동일 문서 점수 합산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출력: 융합 점수 상위 Top-10 선정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5. 답변 생성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컨텍스트: Top-10 문서 텍스트 (최대 8K 토큰)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프롬프트: 시스템 지시 + 컨텍스트 + 질문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DeepSeek 호출: 약 1.5초 소요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후처리: 출처 문서 목록 첨부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CD853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인증 및 보안 설계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인증 및 보안 설계 (Security Architecture)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00" y="1080000"/>
            <a:ext cx="2268000" cy="126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999" y="1116000"/>
            <a:ext cx="212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🔐 인증 (Authentication)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368000"/>
            <a:ext cx="1908000" cy="198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 OAuth 2.0 Authorization Code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620000"/>
            <a:ext cx="1908000" cy="198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 PKCE (Proof Key for Code Exchange)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871999"/>
            <a:ext cx="1908000" cy="198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 Keycloak IdP 연동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2124000"/>
            <a:ext cx="1908000" cy="198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 JWT Access Token (RS256)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0000" y="1080000"/>
            <a:ext cx="2268000" cy="126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2000" y="1116000"/>
            <a:ext cx="212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👤 권한 (Authorization)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0000" y="1368000"/>
            <a:ext cx="1908000" cy="1980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 RBAC (Role-Based Access Control)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00000" y="1620000"/>
            <a:ext cx="1908000" cy="1980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 3단계: ADMIN / MANAGER /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00000" y="1871999"/>
            <a:ext cx="1908000" cy="1980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 API 레벨 권한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00000" y="2124000"/>
            <a:ext cx="1908000" cy="1980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 리소스 기반 접근 제어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60000" y="1080000"/>
            <a:ext cx="2160000" cy="126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2000" y="1116000"/>
            <a:ext cx="2015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🔒 암호화 (Encryption)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0000" y="1368000"/>
            <a:ext cx="1800000" cy="1980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 TLS 1.3 (전송 구간)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20000"/>
            <a:ext cx="1800000" cy="1980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 AES-256-GCM (필드)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0000" y="1871999"/>
            <a:ext cx="1800000" cy="1980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 bcrypt (비밀번호)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0000" y="2124000"/>
            <a:ext cx="1800000" cy="1980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 Vault (키 관리)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0000" y="2448000"/>
            <a:ext cx="3240000" cy="90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999" y="2484000"/>
            <a:ext cx="30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🎫 JWT 토큰 전략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2736000"/>
            <a:ext cx="30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E2723"/>
                </a:solidFill>
              </a:defRPr>
            </a:pPr>
            <a:r>
              <a:t>• Access Token: 15분, 메모리 저장, 만료 2분 전 자동 갱신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2916000"/>
            <a:ext cx="30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E2723"/>
                </a:solidFill>
              </a:defRPr>
            </a:pPr>
            <a:r>
              <a:t>• Refresh Token: 7일, HttpOnly Cookie, Rotation 적용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3096000"/>
            <a:ext cx="30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E2723"/>
                </a:solidFill>
              </a:defRPr>
            </a:pPr>
            <a:r>
              <a:t>• 토큰 구조: Header.Payload.Signature (RS256 서명)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0000" y="2448000"/>
            <a:ext cx="3420000" cy="90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1999" y="2484000"/>
            <a:ext cx="32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📊 데이터 분류 체계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0000" y="2736000"/>
            <a:ext cx="30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E2723"/>
                </a:solidFill>
              </a:defRPr>
            </a:pPr>
            <a:r>
              <a:t>• Level 4 (극비): 암호화 키 → HSM/Vault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80000" y="2916000"/>
            <a:ext cx="30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E2723"/>
                </a:solidFill>
              </a:defRPr>
            </a:pPr>
            <a:r>
              <a:t>• Level 3 (비밀): API 키, 토큰 → DB 암호화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80000" y="3096000"/>
            <a:ext cx="30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E2723"/>
                </a:solidFill>
              </a:defRPr>
            </a:pPr>
            <a:r>
              <a:t>• Level 2 (대외비): 이름, 이메일 → 필드 암호화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180000" y="3528000"/>
          <a:ext cx="6840000" cy="82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/>
                <a:gridCol w="1368000"/>
                <a:gridCol w="1368000"/>
                <a:gridCol w="1368000"/>
                <a:gridCol w="1368000"/>
              </a:tblGrid>
              <a:tr h="206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사용자 관리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지식 CRUD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지식 조회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북마크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</a:tr>
              <a:tr h="20699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206999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  <a:tr h="20700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E2723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OAuth 2.0 + PKCE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Authorization Code Flow: 가장 안전한 OAuth 2.0 방식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PKCE: code_verifier 해시로 인증 코드 탈취 방지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Keycloak: 오픈소스 IdP, 사용자/역할 관리 UI 제공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적용: 로그인 시 PKCE 파라미터 자동 생성/검증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JWT 토큰 보안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Access Token 메모리 저장: XSS로 탈취 시 자동 만료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Refresh Token HttpOnly: JavaScript 접근 불가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Rotation: Refresh 사용 시 새 토큰 발급, 기존 무효화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RS256: 공개키로 검증, 비밀키는 Keycloak만 보유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암호화 계층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TLS 1.3: 모든 네트워크 통신 암호화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AES-256-GCM: 인증 태그 포함, 무결성 보장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bcrypt: cost factor 12, 레인보우 테이블 공격 방어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Vault: 암호화 키 중앙 관리, 자동 키 로테이션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RBAC 역할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ADMIN: 시스템 전체 관리, 사용자 생성/삭제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MANAGER: 지식 CRUD, 부서별 문서 관리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USER: 검색/조회만 가능, 북마크 개인 관리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원칙: 최소 권한 부여, 필요 시 역할 승격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CD853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인프라 및 DevOps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인프라 구성 (Docker Compose 기반)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00" y="1007999"/>
            <a:ext cx="7020000" cy="342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999" y="1044000"/>
            <a:ext cx="68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🐳 Docker Host (Production: 32C / 128GB RAM / 1TB SSD)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260000"/>
            <a:ext cx="6660000" cy="72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296000"/>
            <a:ext cx="651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⚙️ Application Layer (6개)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000" y="1512000"/>
            <a:ext cx="972000" cy="288000"/>
          </a:xfrm>
          <a:prstGeom prst="roundRect">
            <a:avLst/>
          </a:prstGeom>
          <a:solidFill>
            <a:srgbClr val="81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nginx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48000" y="1512000"/>
            <a:ext cx="972000" cy="288000"/>
          </a:xfrm>
          <a:prstGeom prst="roundRect">
            <a:avLst/>
          </a:prstGeom>
          <a:solidFill>
            <a:srgbClr val="81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8000" y="1512000"/>
            <a:ext cx="972000" cy="288000"/>
          </a:xfrm>
          <a:prstGeom prst="roundRect">
            <a:avLst/>
          </a:prstGeom>
          <a:solidFill>
            <a:srgbClr val="81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8000" y="1512000"/>
            <a:ext cx="972000" cy="288000"/>
          </a:xfrm>
          <a:prstGeom prst="roundRect">
            <a:avLst/>
          </a:prstGeom>
          <a:solidFill>
            <a:srgbClr val="81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88000" y="1512000"/>
            <a:ext cx="972000" cy="288000"/>
          </a:xfrm>
          <a:prstGeom prst="roundRect">
            <a:avLst/>
          </a:prstGeom>
          <a:solidFill>
            <a:srgbClr val="81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ai-service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8000" y="1512000"/>
            <a:ext cx="972000" cy="288000"/>
          </a:xfrm>
          <a:prstGeom prst="roundRect">
            <a:avLst/>
          </a:prstGeom>
          <a:solidFill>
            <a:srgbClr val="81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3E2723"/>
                </a:solidFill>
                <a:latin typeface="맑은 고딕"/>
              </a:defRPr>
            </a:pPr>
            <a:r>
              <a:t>keycloak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2052000"/>
            <a:ext cx="6660000" cy="72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" y="2088000"/>
            <a:ext cx="651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💾 Data Layer (6개)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000" y="2304000"/>
            <a:ext cx="972000" cy="2880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48000" y="2304000"/>
            <a:ext cx="972000" cy="2880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elasticsearch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28000" y="2304000"/>
            <a:ext cx="972000" cy="2880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neo4j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8000" y="2304000"/>
            <a:ext cx="972000" cy="2880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redis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88000" y="2304000"/>
            <a:ext cx="972000" cy="2880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minio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68000" y="2304000"/>
            <a:ext cx="972000" cy="2880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vault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2844000"/>
            <a:ext cx="4680000" cy="72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00" y="2880000"/>
            <a:ext cx="453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📊 Monitoring Layer (4개)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8000" y="3096000"/>
            <a:ext cx="972000" cy="28800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prometheus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48000" y="3096000"/>
            <a:ext cx="972000" cy="28800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grafana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28000" y="3096000"/>
            <a:ext cx="972000" cy="28800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loki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8000" y="3096000"/>
            <a:ext cx="972000" cy="28800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promtail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000" y="3708000"/>
            <a:ext cx="6660000" cy="648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000" y="3780000"/>
            <a:ext cx="64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📦 총 16개 컨테이너 | Production: 32C/128GB ($800/월) | Staging: 16C/64GB ($200/월) | 연간 총비용: $14,040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Application Layer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nginx: SSL 종단, 정적 파일 서빙, 리버스 프록시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frontend: React SPA 빌드 결과물 서빙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gateway: Spring Cloud Gateway, JWT 검증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backend: Spring Boot 3.x, 비즈니스 로직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ai-service: FastAPI, Hybrid 검색, 답변 생성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keycloak: OAuth 2.0 IdP, 사용자 관리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Data Layer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postgresql: SSOT, 사용자/문서/설정 데이터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elasticsearch: Vector Search, 1024차원 임베딩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neo4j: Graph DB, 엔티티-관계 저장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redis: 세션 캐시, API 응답 캐시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minio: 문서 파일 저장, S3 호환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vault: 암호화 키 관리, 비밀 저장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Monitoring Layer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prometheus: 메트릭 수집 (15초 주기)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grafana: 대시보드 (CPU, Memory, Latency)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loki: 중앙화 로그 집계, LogQL 검색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promtail: 컨테이너 로그 수집 에이전트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리소스 할당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postgresql: 4GB RAM, 100GB 디스크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elasticsearch: 8GB RAM, 200GB 디스크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neo4j: 4GB RAM, 50GB 디스크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ai-service: 16GB RAM (임베딩 모델 로드)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5. 확장 경로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2: Redis Sentinel 3노드 캐시 이중화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3: Docker Swarm 3노드 클러스터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4: Kubernetes + Helm 차트 배포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CI/CD 파이프라인 (GitLab)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00" y="1080000"/>
            <a:ext cx="6840000" cy="827999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999" y="1116000"/>
            <a:ext cx="66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🔄 CI (Continuous Integration)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368000"/>
            <a:ext cx="1188000" cy="360000"/>
          </a:xfrm>
          <a:prstGeom prst="roundRect">
            <a:avLst/>
          </a:prstGeom>
          <a:solidFill>
            <a:srgbClr val="CD8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Git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8000" y="144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2000" y="1368000"/>
            <a:ext cx="1188000" cy="3600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0" y="144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24000" y="1368000"/>
            <a:ext cx="1188000" cy="360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Unit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2000" y="144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6000" y="1368000"/>
            <a:ext cx="1188000" cy="3600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Security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4000" y="144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88000" y="1368000"/>
            <a:ext cx="1188000" cy="360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SonarQube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0000" y="1980000"/>
            <a:ext cx="6840000" cy="827999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999" y="2015999"/>
            <a:ext cx="66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🚀 CD (Continuous Deployment)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2268000"/>
            <a:ext cx="1188000" cy="3600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Docker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8000" y="234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2000" y="2268000"/>
            <a:ext cx="1188000" cy="360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Push Registry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0" y="234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24000" y="2268000"/>
            <a:ext cx="1188000" cy="360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Staging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2000" y="234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268000"/>
            <a:ext cx="1188000" cy="360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Approve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44000" y="2340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88000" y="2268000"/>
            <a:ext cx="1188000" cy="3600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Production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0000" y="2880000"/>
            <a:ext cx="6840000" cy="54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999" y="2916000"/>
            <a:ext cx="66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🚦 품질 게이트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24000"/>
            <a:ext cx="66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E2723"/>
                </a:solidFill>
              </a:defRPr>
            </a:pPr>
            <a:r>
              <a:t>테스트 커버리지 80%+ | 보안 취약점 High 0건 | SonarQube Quality Gate Pass | 코드 리뷰 승인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0000" y="3491999"/>
            <a:ext cx="6840000" cy="54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999" y="3527999"/>
            <a:ext cx="66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🌿 브랜치 전략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3636000"/>
            <a:ext cx="66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E2723"/>
                </a:solidFill>
              </a:defRPr>
            </a:pPr>
            <a:r>
              <a:t>main (프로덕션) | develop (개발 통합) | feature/* (새 기능) | fix/* (버그 수정) | hotfix/* (긴급 수정)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CI 단계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Git Push: GitLab 트리거, MR 생성 시 자동 실행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Build: Gradle/npm 빌드, Docker 이미지 생성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Unit Test: JUnit 5, pytest, Vitest 실행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Security Scan: OWASP Dependency Check, Trivy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SonarQube: 코드 품질 분석, 기술 부채 측정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CD 단계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Docker Image: 멀티스테이지 빌드, 경량화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Push Registry: GitLab Container Registry 저장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Staging Deploy: SSH로 docker compose 실행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Manual Approve: 담당자 승인 필수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Production Deploy: 무중단 배포 (Rolling Update)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품질 게이트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테스트 커버리지: Backend 80%+, Frontend 70%+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보안 취약점: High/Critical 0건 필수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SonarQube: Bugs 0건, Code Smell A등급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코드 리뷰: 최소 1명 Approve 필수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배포 전략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Rolling Update: 컨테이너 순차 교체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Health Check: 30초 주기 확인 후 트래픽 전환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Rollback: 실패 시 이전 버전으로 자동 복구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배포 시간: 전체 파이프라인 약 15분 소요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CD853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2단계 구축 이관 항목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2단계 구축 사업 이관 항목 (Phase 2 Items)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00" y="1080000"/>
            <a:ext cx="3420000" cy="108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999" y="1116000"/>
            <a:ext cx="32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📋 이관 대상 문서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332000"/>
            <a:ext cx="32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성능/확장성 설계서 (2-3주) - K8s 마이그레이션 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548000"/>
            <a:ext cx="32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재해복구 설계서 (1-2주) - 고가용성 요구 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764000"/>
            <a:ext cx="32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캐싱 전략 상세화 (0.5일) - Redis 클러스터 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0000" y="1080000"/>
            <a:ext cx="3240000" cy="108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1999" y="1116000"/>
            <a:ext cx="30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⚡ Medium/Low Priority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1332000"/>
            <a:ext cx="30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MFA 설계 (0.5일) - 2단계 인증 요구 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0" y="1548000"/>
            <a:ext cx="30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데이터 거버넌스 (1일) - 규정 준수 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0" y="1764000"/>
            <a:ext cx="30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PWA 설계 (0.5일) - 모바일 요구 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000" y="2268000"/>
            <a:ext cx="6840000" cy="126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999" y="2304000"/>
            <a:ext cx="66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🚀 점진적 확장 로드맵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520000"/>
            <a:ext cx="1440000" cy="827999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Phase 1</a:t>
            </a:r>
            <a:br/>
            <a:r>
              <a:t>(현재)</a:t>
            </a:r>
            <a:br/>
            <a:br/>
            <a:r>
              <a:t>Docker Compose</a:t>
            </a:r>
            <a:br/>
            <a:r>
              <a:t>$14K/년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0" y="280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80000" y="2520000"/>
            <a:ext cx="1440000" cy="827999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Phase 2</a:t>
            </a:r>
            <a:br/>
            <a:br/>
            <a:r>
              <a:t>Redis Sentinel</a:t>
            </a:r>
            <a:br/>
            <a:r>
              <a:t>$20K/년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0000" y="280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0" y="2520000"/>
            <a:ext cx="1440000" cy="827999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Phase 3</a:t>
            </a:r>
            <a:br/>
            <a:br/>
            <a:r>
              <a:t>Docker Swarm</a:t>
            </a:r>
            <a:br/>
            <a:r>
              <a:t>$40K/년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0000" y="2808000"/>
            <a:ext cx="36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853F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20000" y="2520000"/>
            <a:ext cx="1440000" cy="827999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Phase 4</a:t>
            </a:r>
            <a:br/>
            <a:br/>
            <a:r>
              <a:t>Kubernetes</a:t>
            </a:r>
            <a:br/>
            <a:r>
              <a:t>$100K/년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000" y="3600000"/>
            <a:ext cx="68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</a:defRPr>
            </a:pPr>
            <a:r>
              <a:t>🎯 트리거: Phase 2 (동시 100+명) | Phase 3 (동시 500+명) | Phase 4 (동시 1,000+명)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1단계 집중 전략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핵심 기능 구현에 집중하여 빠른 가치 전달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과도한 초기 설계 지양, MVP 우선 접근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실제 사용량 기반 의사결정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비용 효율성 최우선 고려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이관 문서 필요 시점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성능/확장성: K8s 마이그레이션 결정 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재해복구: 99.9% 이상 SLA 요구 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캐싱 전략: Redis 클러스터 구성 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원칙: 필요 시점에 작성, 미리 작성 지양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마이그레이션 조건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2: 동시 사용자 100+, 일일 요청 10,000+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3: 동시 사용자 500+, 일일 요청 50,000+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4: 동시 사용자 1,000+, 일일 요청 200,000+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추가 조건: 가용성 99.9%+ 요구 시 Phase 3 이상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비용 최적화 원칙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1: 최소 비용으로 시작 ($14K/년)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점진적 투자: 실제 트래픽 증가에 따라 확장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ROI: 초기 86% 비용 절감 효과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전략: 필요 시점에 맞춰 투자 확대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CD853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기술 스택 및 비용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기술 스택 요약 (Tech Stack)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00" y="1080000"/>
            <a:ext cx="1728000" cy="144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999" y="1116000"/>
            <a:ext cx="1583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🖥️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133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React 18.3+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51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TypeScript 5.4+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69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Vite 5.x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87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MUI v5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05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Redux Toolkit 2.x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223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React Query 5.x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80000" y="1080000"/>
            <a:ext cx="1728000" cy="144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2000" y="1116000"/>
            <a:ext cx="1583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⚙️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8000" y="133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Spring Boot 3.2+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8000" y="151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Spring Security 6.x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8000" y="169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Spring Data JPA 3.x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8000" y="187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Resilience4j 2.x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8000" y="205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Gradle 8.x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8000" y="223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Java 17+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80000" y="1080000"/>
            <a:ext cx="1728000" cy="144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1999" y="1116000"/>
            <a:ext cx="1583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🧠 AI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8000" y="133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Python 3.11+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8000" y="151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FastAPI 0.110+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8000" y="169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LangGraph 1.0+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8000" y="187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Docling 2.x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8000" y="205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BGE-M3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8000" y="2232000"/>
            <a:ext cx="1512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DeepSeek V3.2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80000" y="1080000"/>
            <a:ext cx="1440000" cy="1440000"/>
          </a:xfrm>
          <a:prstGeom prst="roundRect">
            <a:avLst/>
          </a:prstGeom>
          <a:solidFill>
            <a:srgbClr val="FAF5F0"/>
          </a:solidFill>
          <a:ln w="19050">
            <a:solidFill>
              <a:srgbClr val="B49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2000" y="1116000"/>
            <a:ext cx="129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E2723"/>
                </a:solidFill>
                <a:latin typeface="맑은 고딕"/>
              </a:defRPr>
            </a:pPr>
            <a:r>
              <a:t>🏗️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8000" y="1332000"/>
            <a:ext cx="12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Docker 24.x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88000" y="1512000"/>
            <a:ext cx="12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Compose 2.x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88000" y="1692000"/>
            <a:ext cx="12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PostgreSQL 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8000" y="1872000"/>
            <a:ext cx="12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ES 8.x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8000" y="2052000"/>
            <a:ext cx="12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Neo4j 5.x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8000" y="2232000"/>
            <a:ext cx="126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E2723"/>
                </a:solidFill>
              </a:defRPr>
            </a:pPr>
            <a:r>
              <a:t>• Redis 7.x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0000" y="2628000"/>
            <a:ext cx="6840000" cy="540000"/>
          </a:xfrm>
          <a:prstGeom prst="roundRect">
            <a:avLst/>
          </a:prstGeom>
          <a:solidFill>
            <a:srgbClr val="F5EBDC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00" y="2700000"/>
            <a:ext cx="666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E2723"/>
                </a:solidFill>
              </a:defRPr>
            </a:pPr>
            <a:r>
              <a:t>⚠️ 서비스 분리 원칙: SpringBoot는 비즈니스 로직/트랜잭션만 담당, AI Service가 LLM/임베딩/검색 전담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0000" y="3240000"/>
            <a:ext cx="6840000" cy="79200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00" y="3311999"/>
            <a:ext cx="66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📌 기술 선정 사유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React: 가장 큰 생태계, TypeScript 친화적 | Spring Boot: 기업 환경 표준, 안정성 검증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• FastAPI: 비동기 성능, Python AI 라이브러리 호환 | DeepSeek: 비용 효율성 95%, GPT-4급 품질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Frontend 기술 선정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React 18: Concurrent Features, Suspense 지원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TypeScript: 타입 안정성, IDE 자동완성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Vite: 빠른 HMR, ES Module 기반 빌드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MUI v5: Material Design, 풍부한 컴포넌트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Backend 기술 선정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Spring Boot 3.x: Virtual Thread 지원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Spring Security: OAuth 2.0 Resource Server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Resilience4j: Circuit Breaker, Rate Limiter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WebClient: 비동기 HTTP 클라이언트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AI Service 기술 선정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FastAPI: 비동기 처리, OpenAPI 자동 생성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LangGraph: 워크플로우 기반 AI 파이프라인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BGE-M3: 다국어 지원, 1024차원 임베딩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DeepSeek: GPT-4급 품질, 95% 비용 절감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Database 선정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PostgreSQL: SSOT, ACID 트랜잭션 보장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Elasticsearch: Vector Search, knn 검색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Neo4j: Graph DB, Cypher 쿼리 지원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Redis: 인메모리 캐시, 세션 관리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0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예상 비용 분석 (Cost Analysis)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1080000"/>
          <a:ext cx="684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000"/>
                <a:gridCol w="1710000"/>
                <a:gridCol w="1710000"/>
                <a:gridCol w="1710000"/>
              </a:tblGrid>
              <a:tr h="25714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월간 비용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연간 비용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서버 (Production)</a:t>
                      </a:r>
                    </a:p>
                  </a:txBody>
                  <a:tcPr>
                    <a:solidFill>
                      <a:srgbClr val="F5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$800</a:t>
                      </a:r>
                    </a:p>
                  </a:txBody>
                  <a:tcPr>
                    <a:solidFill>
                      <a:srgbClr val="F5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$9,600</a:t>
                      </a:r>
                    </a:p>
                  </a:txBody>
                  <a:tcPr>
                    <a:solidFill>
                      <a:srgbClr val="F5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32C/128GB/1TB</a:t>
                      </a:r>
                    </a:p>
                  </a:txBody>
                  <a:tcPr>
                    <a:solidFill>
                      <a:srgbClr val="F5EBDC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서버 (Staging)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16C/64GB/500GB</a:t>
                      </a:r>
                    </a:p>
                  </a:txBody>
                  <a:tcPr/>
                </a:tc>
              </a:tr>
              <a:tr h="25714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DeepSeek API</a:t>
                      </a:r>
                    </a:p>
                  </a:txBody>
                  <a:tcPr>
                    <a:solidFill>
                      <a:srgbClr val="F5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$150</a:t>
                      </a:r>
                    </a:p>
                  </a:txBody>
                  <a:tcPr>
                    <a:solidFill>
                      <a:srgbClr val="F5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F5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예상 사용량</a:t>
                      </a:r>
                    </a:p>
                  </a:txBody>
                  <a:tcPr>
                    <a:solidFill>
                      <a:srgbClr val="F5EBDC"/>
                    </a:solidFill>
                  </a:tcPr>
                </a:tc>
              </a:tr>
              <a:tr h="25714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도메인/SSL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$240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E2723"/>
                          </a:solidFill>
                        </a:defRPr>
                      </a:pPr>
                      <a:r>
                        <a:t>Let's Encrypt</a:t>
                      </a:r>
                    </a:p>
                  </a:txBody>
                  <a:tcPr/>
                </a:tc>
              </a:tr>
              <a:tr h="257142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$1,170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$14,040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4CAF50"/>
                    </a:solidFill>
                  </a:tcPr>
                </a:tc>
              </a:tr>
              <a:tr h="2571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GPT-4 사용 시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$8,500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$102,000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비교 기준</a:t>
                      </a:r>
                    </a:p>
                  </a:txBody>
                  <a:tcPr>
                    <a:solidFill>
                      <a:srgbClr val="F4433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80000" y="2988000"/>
            <a:ext cx="6840000" cy="540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3060000"/>
            <a:ext cx="666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💰 총 비용 절감: $102,000 - $14,040 = $87,960/년 (86% 절감)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" y="3600000"/>
            <a:ext cx="6840000" cy="468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3671999"/>
            <a:ext cx="66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E2723"/>
                </a:solidFill>
              </a:defRPr>
            </a:pPr>
            <a:r>
              <a:t>📈 ROI: 1년차 투자 대비 7.3배 비용 절감 효과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40000" y="1007999"/>
            <a:ext cx="4248000" cy="522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8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8000" y="1080000"/>
            <a:ext cx="4031999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1. 서버 비용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Production: 32코어/128GB는 AI 워크로드 고려 사양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Elasticsearch: 8GB RAM 권장 (벡터 인덱스)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AI Service: 16GB RAM (임베딩 모델 로드)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클라우드 렌탈: AWS/GCP 동급 사양 기준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2. LLM API 비용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DeepSeek: $0.14/1M input, $0.28/1M output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GPT-4: $30/1M input, $60/1M output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예상 사용량: 월 10M input, 5M output 토큰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DeepSeek: $1.4 + $1.4 = $2.8/월 × 50배 버퍼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3. K8s 대비 절감 상세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K8s 클러스터: 13대 서버, 전문 인력 필요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Docker Compose: 1대 서버, 간단한 운영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인프라 비용: $100K → $14K (86% 절감)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운영 복잡도: High → Low</a:t>
            </a:r>
          </a:p>
          <a:p>
            <a:pPr>
              <a:spcBef>
                <a:spcPts val="800"/>
              </a:spcBef>
              <a:defRPr b="1" sz="900">
                <a:solidFill>
                  <a:srgbClr val="3E2723"/>
                </a:solidFill>
                <a:latin typeface="맑은 고딕"/>
              </a:defRPr>
            </a:pPr>
            <a:r>
              <a:t>4. 확장 시 비용 증가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2: +$6K (Redis Sentinel)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3: +$26K (Docker Swarm 3노드)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Phase 4: +$86K (K8s 풀 클러스터)</a:t>
            </a:r>
          </a:p>
          <a:p>
            <a:pPr>
              <a:spcAft>
                <a:spcPts val="200"/>
              </a:spcAft>
              <a:defRPr sz="800">
                <a:solidFill>
                  <a:srgbClr val="3E2723"/>
                </a:solidFill>
                <a:latin typeface="맑은 고딕"/>
              </a:defRPr>
            </a:pPr>
            <a:r>
              <a:t>  • 원칙: 트래픽 기반 점진적 투자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D853F"/>
                </a:solidFill>
              </a:defRPr>
            </a:pPr>
            <a:r>
              <a:t>Hybrid RAG Knowledge Platform</a:t>
            </a:r>
          </a:p>
          <a:p>
            <a:pPr algn="ctr">
              <a:defRPr sz="1400">
                <a:solidFill>
                  <a:srgbClr val="F5EBDC"/>
                </a:solidFill>
              </a:defRPr>
            </a:pPr>
            <a:r>
              <a:t>"기업 지식의 80%가 잠들어 있는 문서에서, AI가 즉시 답을 찾아드립니다"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D853F"/>
                </a:solidFill>
              </a:defRPr>
            </a:pPr>
            <a:r>
              <a:t>2026-01-16  |  Version 1.0  |  통합 상세 설계서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