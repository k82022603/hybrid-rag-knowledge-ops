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86400" y="4114800"/>
            <a:ext cx="4572000" cy="3657600"/>
          </a:xfrm>
          <a:prstGeom prst="ellipse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인증/권한 관리</a:t>
            </a:r>
            <a:br/>
            <a:r>
              <a:t>상세 설계서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EFEBE9"/>
                </a:solidFill>
                <a:latin typeface="맑은 고딕"/>
              </a:defRPr>
            </a:pPr>
            <a:r>
              <a:t>OAuth 2.0 + PKCE | JWT Token Strategy | RBAC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1887F"/>
                </a:solidFill>
                <a:latin typeface="맑은 고딕"/>
              </a:defRPr>
            </a:pPr>
            <a:r>
              <a:t>2026-01-15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인증/권한 관리 아키텍처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12121"/>
                </a:solidFill>
                <a:latin typeface="맑은 고딕"/>
              </a:defRPr>
            </a:pPr>
            <a:r>
              <a:t>OAuth 2.0 + PKCE 기반 보안 인증 시스템 | Keycloak IdP 통합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2011680" cy="2560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Keycloak IdP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OAuth 2.0 Provider</a:t>
            </a:r>
          </a:p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사용자 인증/관리</a:t>
            </a:r>
          </a:p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SSO 지원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2011680"/>
            <a:ext cx="2011680" cy="256032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1760" y="21031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JWT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Access Token (15분)</a:t>
            </a:r>
          </a:p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Refresh Token (7일)</a:t>
            </a:r>
          </a:p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토큰 회전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2011680"/>
            <a:ext cx="2011680" cy="25603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21031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Spring 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59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JWT 검증 필터</a:t>
            </a:r>
          </a:p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Role 기반 인가</a:t>
            </a:r>
          </a:p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CSRF/XSS 방어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79" y="2011680"/>
            <a:ext cx="2011680" cy="25603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79" y="210312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맑은 고딕"/>
              </a:defRPr>
            </a:pPr>
            <a:r>
              <a:t>Redis Blacklist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19" y="26517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토큰 무효화</a:t>
            </a:r>
          </a:p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세션 관리</a:t>
            </a:r>
          </a:p>
          <a:p>
            <a:pPr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실시간 동기화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8229600" cy="1645920"/>
          </a:xfrm>
          <a:prstGeom prst="roundRect">
            <a:avLst/>
          </a:prstGeom>
          <a:solidFill>
            <a:srgbClr val="EFEBE9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029200"/>
            <a:ext cx="7863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✓ Keycloak: 오픈소스 IdP로 비용 효율적인 인증 인프라 구축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✓ PKCE: Authorization Code 탈취 공격 방어 (Native/SPA 앱 보안)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✓ Token Rotation: Refresh Token 사용 시마다 새 토큰 발급으로 보안 강화</a:t>
            </a:r>
          </a:p>
          <a:p>
            <a:pPr>
              <a:spcAft>
                <a:spcPts val="400"/>
              </a:spcAft>
              <a:defRPr sz="1200">
                <a:solidFill>
                  <a:srgbClr val="212121"/>
                </a:solidFill>
                <a:latin typeface="맑은 고딕"/>
              </a:defRPr>
            </a:pPr>
            <a:r>
              <a:t>✓ Redis Blacklist: 즉각적인 토큰 무효화로 보안 사고 대응 가능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OAuth 2.0 Authorization Code + PKCE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1887F"/>
                </a:solidFill>
                <a:latin typeface="맑은 고딕"/>
              </a:defRPr>
            </a:pPr>
            <a:r>
              <a:t>SPA/Native 앱을 위한 보안 강화 인증 흐름 | Code Verifier + Code Challenge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554480"/>
            <a:ext cx="1188720" cy="8229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6002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User</a:t>
            </a:r>
            <a:br/>
            <a:r>
              <a:t>(Browser)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1554480"/>
            <a:ext cx="1188720" cy="822960"/>
          </a:xfrm>
          <a:prstGeom prst="round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6002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Frontend</a:t>
            </a:r>
            <a:br/>
            <a:r>
              <a:t>(SPA)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1554480"/>
            <a:ext cx="118872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6002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API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54480"/>
            <a:ext cx="118872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6002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Keycloak</a:t>
            </a:r>
            <a:br/>
            <a:r>
              <a:t>(IdP)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554480"/>
            <a:ext cx="1188720" cy="822960"/>
          </a:xfrm>
          <a:prstGeom prst="round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60020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Backend</a:t>
            </a:r>
            <a:br/>
            <a:r>
              <a:t>Services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60604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334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5176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2121"/>
                </a:solidFill>
                <a:latin typeface="맑은 고딕"/>
              </a:defRPr>
            </a:pPr>
            <a:r>
              <a:t>로그인 버튼 클릭</a:t>
            </a:r>
          </a:p>
        </p:txBody>
      </p:sp>
      <p:sp>
        <p:nvSpPr>
          <p:cNvPr id="18" name="Oval 17"/>
          <p:cNvSpPr/>
          <p:nvPr/>
        </p:nvSpPr>
        <p:spPr>
          <a:xfrm>
            <a:off x="2057400" y="260604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57400" y="26334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26517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2196F3"/>
                </a:solidFill>
                <a:latin typeface="맑은 고딕"/>
              </a:defRPr>
            </a:pPr>
            <a:r>
              <a:t>Generate code_verifier</a:t>
            </a:r>
            <a:br/>
            <a:r>
              <a:t>+ code_challenge</a:t>
            </a:r>
          </a:p>
        </p:txBody>
      </p:sp>
      <p:sp>
        <p:nvSpPr>
          <p:cNvPr id="21" name="Oval 20"/>
          <p:cNvSpPr/>
          <p:nvPr/>
        </p:nvSpPr>
        <p:spPr>
          <a:xfrm>
            <a:off x="2880360" y="315468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80360" y="318211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2004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9800"/>
                </a:solidFill>
                <a:latin typeface="맑은 고딕"/>
              </a:defRPr>
            </a:pPr>
            <a:r>
              <a:t>Authorization Request</a:t>
            </a:r>
            <a:br/>
            <a:r>
              <a:t>(+code_challenge)</a:t>
            </a:r>
          </a:p>
        </p:txBody>
      </p:sp>
      <p:sp>
        <p:nvSpPr>
          <p:cNvPr id="24" name="Oval 23"/>
          <p:cNvSpPr/>
          <p:nvPr/>
        </p:nvSpPr>
        <p:spPr>
          <a:xfrm>
            <a:off x="5897879" y="315468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79" y="318211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200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9688"/>
                </a:solidFill>
                <a:latin typeface="맑은 고딕"/>
              </a:defRPr>
            </a:pPr>
            <a:r>
              <a:t>사용자 인증</a:t>
            </a:r>
            <a:br/>
            <a:r>
              <a:t>(ID/PW 입력)</a:t>
            </a:r>
          </a:p>
        </p:txBody>
      </p:sp>
      <p:sp>
        <p:nvSpPr>
          <p:cNvPr id="27" name="Oval 26"/>
          <p:cNvSpPr/>
          <p:nvPr/>
        </p:nvSpPr>
        <p:spPr>
          <a:xfrm>
            <a:off x="3794759" y="3794759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94759" y="3822191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8404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9688"/>
                </a:solidFill>
                <a:latin typeface="맑은 고딕"/>
              </a:defRPr>
            </a:pPr>
            <a:r>
              <a:t>Authorization Code</a:t>
            </a:r>
            <a:br/>
            <a:r>
              <a:t>반환</a:t>
            </a:r>
          </a:p>
        </p:txBody>
      </p:sp>
      <p:sp>
        <p:nvSpPr>
          <p:cNvPr id="30" name="Oval 29"/>
          <p:cNvSpPr/>
          <p:nvPr/>
        </p:nvSpPr>
        <p:spPr>
          <a:xfrm>
            <a:off x="2880360" y="443484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44622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480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9800"/>
                </a:solidFill>
                <a:latin typeface="맑은 고딕"/>
              </a:defRPr>
            </a:pPr>
            <a:r>
              <a:t>Token Request</a:t>
            </a:r>
            <a:br/>
            <a:r>
              <a:t>(code + code_verifier)</a:t>
            </a:r>
          </a:p>
        </p:txBody>
      </p:sp>
      <p:sp>
        <p:nvSpPr>
          <p:cNvPr id="33" name="Oval 32"/>
          <p:cNvSpPr/>
          <p:nvPr/>
        </p:nvSpPr>
        <p:spPr>
          <a:xfrm>
            <a:off x="5897879" y="443484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79" y="446227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4805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009688"/>
                </a:solidFill>
                <a:latin typeface="맑은 고딕"/>
              </a:defRPr>
            </a:pPr>
            <a:r>
              <a:t>Verify &amp; Issue</a:t>
            </a:r>
            <a:br/>
            <a:r>
              <a:t>Access + Refresh Token</a:t>
            </a:r>
          </a:p>
        </p:txBody>
      </p:sp>
      <p:sp>
        <p:nvSpPr>
          <p:cNvPr id="36" name="Oval 35"/>
          <p:cNvSpPr/>
          <p:nvPr/>
        </p:nvSpPr>
        <p:spPr>
          <a:xfrm>
            <a:off x="3977639" y="507492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77639" y="51023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120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4CAF50"/>
                </a:solidFill>
                <a:latin typeface="맑은 고딕"/>
              </a:defRPr>
            </a:pPr>
            <a:r>
              <a:t>API 요청</a:t>
            </a:r>
            <a:br/>
            <a:r>
              <a:t>(Bearer Token)</a:t>
            </a:r>
          </a:p>
        </p:txBody>
      </p:sp>
      <p:sp>
        <p:nvSpPr>
          <p:cNvPr id="39" name="Oval 38"/>
          <p:cNvSpPr/>
          <p:nvPr/>
        </p:nvSpPr>
        <p:spPr>
          <a:xfrm>
            <a:off x="7635240" y="5074920"/>
            <a:ext cx="274320" cy="27432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35240" y="5102352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55279" y="5120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95548"/>
                </a:solidFill>
                <a:latin typeface="맑은 고딕"/>
              </a:defRPr>
            </a:pPr>
            <a:r>
              <a:t>Protected</a:t>
            </a:r>
            <a:br/>
            <a:r>
              <a:t>Resource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" y="5943600"/>
            <a:ext cx="8595360" cy="73152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989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  <a:latin typeface="맑은 고딕"/>
              </a:defRPr>
            </a:pPr>
            <a:r>
              <a:t>🔐 PKCE (Proof Key for Code Exchange): code_verifier는 클라이언트에만 저장, code_challenge만 서버로 전송</a:t>
            </a:r>
          </a:p>
          <a:p>
            <a:pPr>
              <a:defRPr sz="1100">
                <a:solidFill>
                  <a:srgbClr val="795548"/>
                </a:solidFill>
                <a:latin typeface="맑은 고딕"/>
              </a:defRPr>
            </a:pPr>
            <a:r>
              <a:t>→ Authorization Code가 탈취되어도 code_verifier 없이는 토큰 교환 불가 (Man-in-the-Middle 공격 방어)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JWT Token 전략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4114800" cy="256032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🔑 Access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만료 시간: 15분 (단기)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저장 위치: 메모리 (XSS 방어)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용도: API 요청 인증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Payload: user_id, roles, permissions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갱신: Refresh Token으로 재발급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188720"/>
            <a:ext cx="4114800" cy="25603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🔄 Refresh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783080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만료 시간: 7일 (장기)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저장 위치: HttpOnly Cookie (CSRF 방어)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용도: Access Token 갱신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보안: Secure, SameSite=Strict</a:t>
            </a:r>
          </a:p>
          <a:p>
            <a:pPr>
              <a:spcAft>
                <a:spcPts val="6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• 정책: Token Rotation (사용시 재발급)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931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12121"/>
                </a:solidFill>
                <a:latin typeface="맑은 고딕"/>
              </a:defRPr>
            </a:pPr>
            <a:r>
              <a:t>Token Rotation 전략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572000"/>
            <a:ext cx="1371600" cy="8229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RT 사용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874519" y="4892040"/>
            <a:ext cx="548640" cy="22860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103120" y="4572000"/>
            <a:ext cx="1371600" cy="8229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4709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검증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20439" y="4892040"/>
            <a:ext cx="548640" cy="22860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49039" y="4572000"/>
            <a:ext cx="1371600" cy="82296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4709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새 AT+RT</a:t>
            </a:r>
            <a:br/>
            <a:r>
              <a:t>발급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166359" y="4892040"/>
            <a:ext cx="548640" cy="22860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94960" y="4572000"/>
            <a:ext cx="1371600" cy="82296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4709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기존 RT</a:t>
            </a:r>
            <a:br/>
            <a:r>
              <a:t>무효화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812280" y="4892040"/>
            <a:ext cx="548640" cy="22860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40880" y="4572000"/>
            <a:ext cx="1371600" cy="82296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0" y="47091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Redis</a:t>
            </a:r>
            <a:br/>
            <a:r>
              <a:t>저장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5577840"/>
            <a:ext cx="8412480" cy="1097280"/>
          </a:xfrm>
          <a:prstGeom prst="roundRect">
            <a:avLst/>
          </a:prstGeom>
          <a:solidFill>
            <a:srgbClr val="EFEBE9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66928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95548"/>
                </a:solidFill>
                <a:latin typeface="맑은 고딕"/>
              </a:defRPr>
            </a:pPr>
            <a:r>
              <a:t>🛡️ Token Rotation 보안 이점</a:t>
            </a:r>
          </a:p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• RT 탈취 시 단 1회만 사용 가능 → 탈취 탐지 후 즉시 무효화 | • Replay Attack 방어 | • 세션 하이재킹 위험 최소화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RBAC (Role-Based Access Control)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29000" y="1280160"/>
            <a:ext cx="2286000" cy="73152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29000" y="137160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🔴 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71800" y="2377440"/>
            <a:ext cx="3200400" cy="7315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246888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🟠 KNOWLEDGE_MANAGER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4600" y="3474720"/>
            <a:ext cx="4114800" cy="7315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56616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🟢 USER (기본 역할)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434840" y="2011680"/>
            <a:ext cx="274320" cy="320040"/>
          </a:xfrm>
          <a:prstGeom prst="downArrow">
            <a:avLst/>
          </a:prstGeom>
          <a:solidFill>
            <a:srgbClr val="A1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4434840" y="3108960"/>
            <a:ext cx="274320" cy="320040"/>
          </a:xfrm>
          <a:prstGeom prst="downArrow">
            <a:avLst/>
          </a:prstGeom>
          <a:solidFill>
            <a:srgbClr val="A1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맑은 고딕"/>
              </a:defRPr>
            </a:pPr>
            <a:r>
              <a:t>권한 매트릭스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2560320" cy="365760"/>
          </a:xfrm>
          <a:prstGeom prst="rect">
            <a:avLst/>
          </a:prstGeom>
          <a:solidFill>
            <a:srgbClr val="795548"/>
          </a:solidFill>
          <a:ln>
            <a:solidFill>
              <a:srgbClr val="3E2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920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권한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0" y="4846320"/>
            <a:ext cx="1371600" cy="365760"/>
          </a:xfrm>
          <a:prstGeom prst="rect">
            <a:avLst/>
          </a:prstGeom>
          <a:solidFill>
            <a:srgbClr val="795548"/>
          </a:solidFill>
          <a:ln>
            <a:solidFill>
              <a:srgbClr val="3E2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8920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USER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4846320"/>
            <a:ext cx="2194560" cy="365760"/>
          </a:xfrm>
          <a:prstGeom prst="rect">
            <a:avLst/>
          </a:prstGeom>
          <a:solidFill>
            <a:srgbClr val="795548"/>
          </a:solidFill>
          <a:ln>
            <a:solidFill>
              <a:srgbClr val="3E2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489204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KNOWLEDGE_MANAGER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4846320"/>
            <a:ext cx="1371600" cy="365760"/>
          </a:xfrm>
          <a:prstGeom prst="rect">
            <a:avLst/>
          </a:prstGeom>
          <a:solidFill>
            <a:srgbClr val="795548"/>
          </a:solidFill>
          <a:ln>
            <a:solidFill>
              <a:srgbClr val="3E27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89204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ADMIN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12080"/>
            <a:ext cx="2560320" cy="320040"/>
          </a:xfrm>
          <a:prstGeom prst="rect">
            <a:avLst/>
          </a:prstGeom>
          <a:solidFill>
            <a:srgbClr val="EFEBE9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5780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지식 검색 (SEARCH)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0" y="5212080"/>
            <a:ext cx="13716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5212080"/>
            <a:ext cx="21945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52578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5212080"/>
            <a:ext cx="13716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5257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532120"/>
            <a:ext cx="2560320" cy="320040"/>
          </a:xfrm>
          <a:prstGeom prst="rect">
            <a:avLst/>
          </a:prstGeom>
          <a:solidFill>
            <a:srgbClr val="EFEBE9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557784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지식 등록/수정 (WRITE)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5532120"/>
            <a:ext cx="13716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0896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80560" y="5532120"/>
            <a:ext cx="21945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55778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75120" y="5532120"/>
            <a:ext cx="13716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55778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852159"/>
            <a:ext cx="2560320" cy="320040"/>
          </a:xfrm>
          <a:prstGeom prst="rect">
            <a:avLst/>
          </a:prstGeom>
          <a:solidFill>
            <a:srgbClr val="EFEBE9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5897879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시스템 설정 (ADMIN)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5852159"/>
            <a:ext cx="13716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80560" y="5852159"/>
            <a:ext cx="2194560" cy="32004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80560" y="5897879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5852159"/>
            <a:ext cx="1371600" cy="320040"/>
          </a:xfrm>
          <a:prstGeom prst="rect">
            <a:avLst/>
          </a:prstGeom>
          <a:solidFill>
            <a:srgbClr val="FFFFFF"/>
          </a:solidFill>
          <a:ln>
            <a:solidFill>
              <a:srgbClr val="A188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5897879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212121"/>
                </a:solidFill>
                <a:latin typeface="맑은 고딕"/>
              </a:defRPr>
            </a:pPr>
            <a:r>
              <a:t>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95548"/>
                </a:solidFill>
                <a:latin typeface="맑은 고딕"/>
              </a:defRPr>
            </a:pPr>
            <a:r>
              <a:t>💡 상위 역할은 하위 역할의 모든 권한을 자동 상속 (계층적 RBAC)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Spring Security + API Gateway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4114800" cy="29260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🌐 API Gateway (Spring Cloud)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JwtAuthenticationFilter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  → Bearer 토큰 추출 및 검증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  → SecurityContext 설정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RateLimitFilter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  → 요청 속도 제한 (분당 100회)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  → IP/User별 제한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CORS Configuration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  → 허용 도메인 설정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280160"/>
            <a:ext cx="4114800" cy="2926080"/>
          </a:xfrm>
          <a:prstGeom prst="round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🔐 Backend Services (Spring Security)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920240"/>
            <a:ext cx="3840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@PreAuthorize 어노테이션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  → 메서드 레벨 권한 체크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  → SpEL 표현식 지원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SecurityFilterChain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  → Stateless 세션 정책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  → CSRF 비활성화 (JWT)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ExceptionHandler</a:t>
            </a:r>
          </a:p>
          <a:p>
            <a:pPr>
              <a:spcAft>
                <a:spcPts val="3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  → 인증/인가 에러 처리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14800" y="2560320"/>
            <a:ext cx="548640" cy="365760"/>
          </a:xfrm>
          <a:prstGeom prst="rightArrow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43891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12121"/>
                </a:solidFill>
                <a:latin typeface="맑은 고딕"/>
              </a:defRPr>
            </a:pPr>
            <a:r>
              <a:t>보안 필터 체인 순서</a:t>
            </a:r>
          </a:p>
        </p:txBody>
      </p:sp>
      <p:sp>
        <p:nvSpPr>
          <p:cNvPr id="12" name="Chevron 11"/>
          <p:cNvSpPr/>
          <p:nvPr/>
        </p:nvSpPr>
        <p:spPr>
          <a:xfrm>
            <a:off x="457200" y="4846320"/>
            <a:ext cx="1371600" cy="822960"/>
          </a:xfrm>
          <a:prstGeom prst="chevron">
            <a:avLst/>
          </a:prstGeom>
          <a:solidFill>
            <a:srgbClr val="A1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9377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CORS</a:t>
            </a:r>
          </a:p>
        </p:txBody>
      </p:sp>
      <p:sp>
        <p:nvSpPr>
          <p:cNvPr id="14" name="Chevron 13"/>
          <p:cNvSpPr/>
          <p:nvPr/>
        </p:nvSpPr>
        <p:spPr>
          <a:xfrm>
            <a:off x="1874519" y="4846320"/>
            <a:ext cx="1371600" cy="822960"/>
          </a:xfrm>
          <a:prstGeom prst="chevron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57400" y="49377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Rate</a:t>
            </a:r>
            <a:br/>
            <a:r>
              <a:t>Limit</a:t>
            </a:r>
          </a:p>
        </p:txBody>
      </p:sp>
      <p:sp>
        <p:nvSpPr>
          <p:cNvPr id="16" name="Chevron 15"/>
          <p:cNvSpPr/>
          <p:nvPr/>
        </p:nvSpPr>
        <p:spPr>
          <a:xfrm>
            <a:off x="3291839" y="4846320"/>
            <a:ext cx="1371600" cy="822960"/>
          </a:xfrm>
          <a:prstGeom prst="chevron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49377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JWT</a:t>
            </a:r>
            <a:br/>
            <a:r>
              <a:t>Auth</a:t>
            </a:r>
          </a:p>
        </p:txBody>
      </p:sp>
      <p:sp>
        <p:nvSpPr>
          <p:cNvPr id="18" name="Chevron 17"/>
          <p:cNvSpPr/>
          <p:nvPr/>
        </p:nvSpPr>
        <p:spPr>
          <a:xfrm>
            <a:off x="4709159" y="4846320"/>
            <a:ext cx="1371600" cy="822960"/>
          </a:xfrm>
          <a:prstGeom prst="chevron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49377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Role</a:t>
            </a:r>
            <a:br/>
            <a:r>
              <a:t>Check</a:t>
            </a:r>
          </a:p>
        </p:txBody>
      </p:sp>
      <p:sp>
        <p:nvSpPr>
          <p:cNvPr id="20" name="Chevron 19"/>
          <p:cNvSpPr/>
          <p:nvPr/>
        </p:nvSpPr>
        <p:spPr>
          <a:xfrm>
            <a:off x="6126479" y="4846320"/>
            <a:ext cx="1371600" cy="822960"/>
          </a:xfrm>
          <a:prstGeom prst="chevron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49377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Method</a:t>
            </a:r>
            <a:br/>
            <a:r>
              <a:t>Security</a:t>
            </a:r>
          </a:p>
        </p:txBody>
      </p:sp>
      <p:sp>
        <p:nvSpPr>
          <p:cNvPr id="22" name="Chevron 21"/>
          <p:cNvSpPr/>
          <p:nvPr/>
        </p:nvSpPr>
        <p:spPr>
          <a:xfrm>
            <a:off x="7543800" y="4846320"/>
            <a:ext cx="1371600" cy="822960"/>
          </a:xfrm>
          <a:prstGeom prst="chevron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26679" y="4937760"/>
            <a:ext cx="1005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Business</a:t>
            </a:r>
            <a:br/>
            <a:r>
              <a:t>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85216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12121"/>
                </a:solidFill>
                <a:latin typeface="맑은 고딕"/>
              </a:defRPr>
            </a:pPr>
            <a:r>
              <a:t>✓ 요청은 순차적으로 모든 필터를 통과 | 각 단계에서 검증 실패 시 즉시 거부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인증/권한 아키텍처 장점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4297680" cy="2651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79" y="13258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🏠 Keycloak (오픈소스 IdP)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상용 IdP 대비 95% 비용 절감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SSO, LDAP, Social 로그인 기본 지원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대시보드로 사용자/세션 통합 관리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SAML, OAuth 2.0, OIDC 표준 준수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88720"/>
            <a:ext cx="4297680" cy="265176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60" y="132588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🛡️ PKCE 인증 보안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82880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Authorization Code 탈취 공격 방어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Native/SPA 앱 필수 보안 요구사항 충족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code_verifier 클라이언트 로컬 저장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MITM (Man-in-the-Middle) 공격 차단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023360"/>
            <a:ext cx="4297680" cy="265176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41605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🔄 Token Rotation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6344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Refresh Token 재사용 탐지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탈취 시 1회만 사용 가능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자동 토큰 갱신으로 UX 향상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세션 하이재킹 위험 최소화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023360"/>
            <a:ext cx="4297680" cy="2651760"/>
          </a:xfrm>
          <a:prstGeom prst="round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41605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맑은 고딕"/>
              </a:defRPr>
            </a:pPr>
            <a:r>
              <a:t>⚡ Redis 기반 Blacklist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4663440"/>
            <a:ext cx="3931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즉각적인 토큰 무효화 (&lt;1ms)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보안 사고 시 실시간 대응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분산 환경 동기화 지원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맑은 고딕"/>
              </a:defRPr>
            </a:pPr>
            <a:r>
              <a:t>• TTL 기반 자동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95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보안 체크리스트 하이라이트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743200" cy="3840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🔐 인증 보안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PKCE 필수 적용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HTTPS Only (TLS 1.3)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Secure Cookie 설정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Password 해싱 (bcrypt)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브루트포스 방어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188720"/>
            <a:ext cx="2743200" cy="3840480"/>
          </a:xfrm>
          <a:prstGeom prst="roundRect">
            <a:avLst/>
          </a:prstGeom>
          <a:solidFill>
            <a:srgbClr val="FF5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80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🎫 토큰 보안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182880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단기 Access Token (15분)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HttpOnly Refresh Token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Token Rotation 활성화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Redis Blacklist 사용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JWT 서명 검증 (RS256)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2743200" cy="384048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2801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🛡️ 인프라 보안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Rate Limiting (100/분)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CORS 화이트리스트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CSRF 방어 (SameSite)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XSS 방어 (CSP)</a:t>
            </a:r>
          </a:p>
          <a:p>
            <a:pPr>
              <a:spcAft>
                <a:spcPts val="1200"/>
              </a:spcAft>
              <a:defRPr sz="1200">
                <a:solidFill>
                  <a:srgbClr val="FFFFFF"/>
                </a:solidFill>
                <a:latin typeface="맑은 고딕"/>
              </a:defRPr>
            </a:pPr>
            <a:r>
              <a:t>✓ SQL Injection 방어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5303520"/>
            <a:ext cx="8412480" cy="1280160"/>
          </a:xfrm>
          <a:prstGeom prst="roundRect">
            <a:avLst/>
          </a:prstGeom>
          <a:solidFill>
            <a:srgbClr val="EFEBE9"/>
          </a:solidFill>
          <a:ln w="25400"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44068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795548"/>
                </a:solidFill>
                <a:latin typeface="맑은 고딕"/>
              </a:defRPr>
            </a:pPr>
            <a:r>
              <a:t>🎯 보안 원칙: Defense in Depth (심층 방어)</a:t>
            </a:r>
          </a:p>
          <a:p>
            <a:pPr>
              <a:defRPr sz="1200">
                <a:solidFill>
                  <a:srgbClr val="212121"/>
                </a:solidFill>
                <a:latin typeface="맑은 고딕"/>
              </a:defRPr>
            </a:pPr>
            <a:r>
              <a:t>단일 보안 계층에 의존하지 않고, 여러 계층의 보안 메커니즘을 중첩 적용하여</a:t>
            </a:r>
          </a:p>
          <a:p>
            <a:pPr>
              <a:defRPr sz="1200">
                <a:solidFill>
                  <a:srgbClr val="212121"/>
                </a:solidFill>
                <a:latin typeface="맑은 고딕"/>
              </a:defRPr>
            </a:pPr>
            <a:r>
              <a:t>하나의 계층이 뚫려도 다른 계층에서 방어할 수 있는 구조 구현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E2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28600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맑은 고딕"/>
              </a:defRPr>
            </a:pPr>
            <a: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31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1887F"/>
                </a:solidFill>
                <a:latin typeface="맑은 고딕"/>
              </a:defRPr>
            </a:pPr>
            <a:r>
              <a:t>🔐 OAuth 2.0 + PKCE 보안 인증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1887F"/>
                </a:solidFill>
                <a:latin typeface="맑은 고딕"/>
              </a:defRPr>
            </a:pPr>
            <a:r>
              <a:t>🔄 Token Rotation 자동 갱신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1887F"/>
                </a:solidFill>
                <a:latin typeface="맑은 고딕"/>
              </a:defRPr>
            </a:pPr>
            <a:r>
              <a:t>⚡ Redis Blacklist 실시간 무효화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1887F"/>
                </a:solidFill>
                <a:latin typeface="맑은 고딕"/>
              </a:defRPr>
            </a:pPr>
            <a:r>
              <a:t>🛡️ 심층 방어 (Defense in Depth)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