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943600" y="4114800"/>
            <a:ext cx="4114800" cy="3657600"/>
          </a:xfrm>
          <a:prstGeom prst="ellipse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Frontend 상세 설계서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A1887F"/>
                </a:solidFill>
                <a:latin typeface="맑은 고딕"/>
              </a:defRPr>
            </a:pPr>
            <a:r>
              <a:t>React 기반 Knowledge Discovery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FEBE9"/>
                </a:solidFill>
                <a:latin typeface="맑은 고딕"/>
              </a:defRPr>
            </a:pPr>
            <a:r>
              <a:t>Version 1.0 | 2026-01-15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• React 18 기반 SPA 애플리케이션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• TypeScript 전면 적용으로 타입 안정성 확보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• Material-UI v5 기반 디자인 시스템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• Redux Toolkit + React Query 상태 관리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• 반응형 웹 디자인 (Desktop, Tablet, Mobile)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  <a:latin typeface="맑은 고딕"/>
              </a:defRPr>
            </a:pPr>
            <a:r>
              <a:t>• 핵심 기능: 대시보드, 지식 검색(RAG), 지식 관리, 개인화, 문서 변환, 관리자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기술 스택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2743200" cy="1645920"/>
          </a:xfrm>
          <a:prstGeom prst="roundRect">
            <a:avLst/>
          </a:prstGeom>
          <a:solidFill>
            <a:srgbClr val="EFEBE9"/>
          </a:solidFill>
          <a:ln w="38100">
            <a:solidFill>
              <a:srgbClr val="61D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1DAFB"/>
                </a:solidFill>
                <a:latin typeface="맑은 고딕"/>
              </a:defRPr>
            </a:pPr>
            <a:r>
              <a:t>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React 18.3+</a:t>
            </a:r>
          </a:p>
          <a:p>
            <a:pPr>
              <a:spcAft>
                <a:spcPts val="2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TypeScript 5.4+</a:t>
            </a:r>
          </a:p>
          <a:p>
            <a:pPr>
              <a:spcAft>
                <a:spcPts val="2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Vite 5.x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188720"/>
            <a:ext cx="2743200" cy="1645920"/>
          </a:xfrm>
          <a:prstGeom prst="roundRect">
            <a:avLst/>
          </a:prstGeom>
          <a:solidFill>
            <a:srgbClr val="EFEBE9"/>
          </a:solidFill>
          <a:ln w="38100">
            <a:solidFill>
              <a:srgbClr val="764A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2801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64ABC"/>
                </a:solidFill>
                <a:latin typeface="맑은 고딕"/>
              </a:defRPr>
            </a:pPr>
            <a:r>
              <a:t>상태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6459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Redux Toolkit</a:t>
            </a:r>
          </a:p>
          <a:p>
            <a:pPr>
              <a:spcAft>
                <a:spcPts val="2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React Query 5.x</a:t>
            </a:r>
          </a:p>
          <a:p>
            <a:pPr>
              <a:spcAft>
                <a:spcPts val="2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Redux Persist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2743200" cy="1645920"/>
          </a:xfrm>
          <a:prstGeom prst="roundRect">
            <a:avLst/>
          </a:prstGeom>
          <a:solidFill>
            <a:srgbClr val="EFEBE9"/>
          </a:solidFill>
          <a:ln w="38100">
            <a:solidFill>
              <a:srgbClr val="00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801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FFF"/>
                </a:solidFill>
                <a:latin typeface="맑은 고딕"/>
              </a:defRPr>
            </a:pPr>
            <a:r>
              <a:t>UI/UX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459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Material-UI 5.x</a:t>
            </a:r>
          </a:p>
          <a:p>
            <a:pPr>
              <a:spcAft>
                <a:spcPts val="2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Emotion</a:t>
            </a:r>
          </a:p>
          <a:p>
            <a:pPr>
              <a:spcAft>
                <a:spcPts val="2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Framer Motion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3017520"/>
            <a:ext cx="2743200" cy="1645920"/>
          </a:xfrm>
          <a:prstGeom prst="roundRect">
            <a:avLst/>
          </a:prstGeom>
          <a:solidFill>
            <a:srgbClr val="EFEBE9"/>
          </a:solidFill>
          <a:ln w="381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9800"/>
                </a:solidFill>
                <a:latin typeface="맑은 고딕"/>
              </a:defRPr>
            </a:pPr>
            <a:r>
              <a:t>폼/검증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747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React Hook Form</a:t>
            </a:r>
          </a:p>
          <a:p>
            <a:pPr>
              <a:spcAft>
                <a:spcPts val="2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Zod</a:t>
            </a:r>
          </a:p>
          <a:p>
            <a:pPr>
              <a:spcAft>
                <a:spcPts val="2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Resolvers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3017520"/>
            <a:ext cx="2743200" cy="1645920"/>
          </a:xfrm>
          <a:prstGeom prst="roundRect">
            <a:avLst/>
          </a:prstGeom>
          <a:solidFill>
            <a:srgbClr val="EFEBE9"/>
          </a:solidFill>
          <a:ln w="3810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31089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4B4B"/>
                </a:solidFill>
                <a:latin typeface="맑은 고딕"/>
              </a:defRPr>
            </a:pPr>
            <a:r>
              <a:t>시각화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4747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Recharts</a:t>
            </a:r>
          </a:p>
          <a:p>
            <a:pPr>
              <a:spcAft>
                <a:spcPts val="2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Mermaid</a:t>
            </a:r>
          </a:p>
          <a:p>
            <a:pPr>
              <a:spcAft>
                <a:spcPts val="2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Prism.js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017520"/>
            <a:ext cx="2743200" cy="1645920"/>
          </a:xfrm>
          <a:prstGeom prst="roundRect">
            <a:avLst/>
          </a:prstGeom>
          <a:solidFill>
            <a:srgbClr val="EFEBE9"/>
          </a:solidFill>
          <a:ln w="38100">
            <a:solidFill>
              <a:srgbClr val="31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1089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178C6"/>
                </a:solidFill>
                <a:latin typeface="맑은 고딕"/>
              </a:defRPr>
            </a:pPr>
            <a:r>
              <a:t>테스트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4747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Vitest</a:t>
            </a:r>
          </a:p>
          <a:p>
            <a:pPr>
              <a:spcAft>
                <a:spcPts val="2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Playwright</a:t>
            </a:r>
          </a:p>
          <a:p>
            <a:pPr>
              <a:spcAft>
                <a:spcPts val="2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• Storybook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프로젝트 구조 (Feature-Based)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E2723"/>
                </a:solidFill>
                <a:latin typeface="Consolas"/>
              </a:defRPr>
            </a:pPr>
            <a:r>
              <a:t>src/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0972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121"/>
                </a:solidFill>
                <a:latin typeface="맑은 고딕"/>
              </a:defRPr>
            </a:pPr>
            <a:r>
              <a:t>소스 코드 루트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95548"/>
                </a:solidFill>
                <a:latin typeface="Consolas"/>
              </a:defRPr>
            </a:pPr>
            <a:r>
              <a:t>├─ app/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121"/>
                </a:solidFill>
                <a:latin typeface="맑은 고딕"/>
              </a:defRPr>
            </a:pPr>
            <a:r>
              <a:t>앱 설정 (providers, router)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95548"/>
                </a:solidFill>
                <a:latin typeface="Consolas"/>
              </a:defRPr>
            </a:pPr>
            <a:r>
              <a:t>├─ components/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121"/>
                </a:solidFill>
                <a:latin typeface="맑은 고딕"/>
              </a:defRPr>
            </a:pPr>
            <a:r>
              <a:t>공유 컴포넌트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9800"/>
                </a:solidFill>
                <a:latin typeface="Consolas"/>
              </a:defRPr>
            </a:pPr>
            <a:r>
              <a:t>├─ features/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468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121"/>
                </a:solidFill>
                <a:latin typeface="맑은 고딕"/>
              </a:defRPr>
            </a:pPr>
            <a:r>
              <a:t>기능별 모듈 (핵심)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95548"/>
                </a:solidFill>
                <a:latin typeface="Consolas"/>
              </a:defRPr>
            </a:pPr>
            <a:r>
              <a:t>├─ hooks/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926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121"/>
                </a:solidFill>
                <a:latin typeface="맑은 고딕"/>
              </a:defRPr>
            </a:pPr>
            <a:r>
              <a:t>공통 커스텀 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832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95548"/>
                </a:solidFill>
                <a:latin typeface="Consolas"/>
              </a:defRPr>
            </a:pPr>
            <a:r>
              <a:t>├─ pages/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3832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121"/>
                </a:solidFill>
                <a:latin typeface="맑은 고딕"/>
              </a:defRPr>
            </a:pPr>
            <a:r>
              <a:t>페이지 컴포넌트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95548"/>
                </a:solidFill>
                <a:latin typeface="Consolas"/>
              </a:defRPr>
            </a:pPr>
            <a:r>
              <a:t>├─ services/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840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121"/>
                </a:solidFill>
                <a:latin typeface="맑은 고딕"/>
              </a:defRPr>
            </a:pPr>
            <a:r>
              <a:t>API 서비스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976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95548"/>
                </a:solidFill>
                <a:latin typeface="Consolas"/>
              </a:defRPr>
            </a:pPr>
            <a:r>
              <a:t>├─ store/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297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121"/>
                </a:solidFill>
                <a:latin typeface="맑은 고딕"/>
              </a:defRPr>
            </a:pPr>
            <a:r>
              <a:t>Redux 스토어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548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95548"/>
                </a:solidFill>
                <a:latin typeface="Consolas"/>
              </a:defRPr>
            </a:pPr>
            <a:r>
              <a:t>├─ styles/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754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121"/>
                </a:solidFill>
                <a:latin typeface="맑은 고딕"/>
              </a:defRPr>
            </a:pPr>
            <a:r>
              <a:t>테마, 글로벌 스타일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212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95548"/>
                </a:solidFill>
                <a:latin typeface="Consolas"/>
              </a:defRPr>
            </a:pPr>
            <a:r>
              <a:t>├─ types/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5212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121"/>
                </a:solidFill>
                <a:latin typeface="맑은 고딕"/>
              </a:defRPr>
            </a:pPr>
            <a:r>
              <a:t>타입 정의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692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95548"/>
                </a:solidFill>
                <a:latin typeface="Consolas"/>
              </a:defRPr>
            </a:pPr>
            <a:r>
              <a:t>└─ utils/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56692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121"/>
                </a:solidFill>
                <a:latin typeface="맑은 고딕"/>
              </a:defRPr>
            </a:pPr>
            <a:r>
              <a:t>유틸리티 함수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1097280"/>
            <a:ext cx="4114800" cy="5303520"/>
          </a:xfrm>
          <a:prstGeom prst="roundRect">
            <a:avLst/>
          </a:prstGeom>
          <a:solidFill>
            <a:srgbClr val="EFEBE9"/>
          </a:solidFill>
          <a:ln w="381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123444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800"/>
                </a:solidFill>
                <a:latin typeface="맑은 고딕"/>
              </a:defRPr>
            </a:pPr>
            <a:r>
              <a:t>Feature 모듈 구조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169164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E2723"/>
                </a:solidFill>
                <a:latin typeface="Consolas"/>
              </a:defRPr>
            </a:pPr>
            <a:r>
              <a:t>features/knowledge/</a:t>
            </a:r>
          </a:p>
          <a:p>
            <a:pPr>
              <a:spcAft>
                <a:spcPts val="300"/>
              </a:spcAft>
              <a:defRPr sz="1100">
                <a:solidFill>
                  <a:srgbClr val="A1887F"/>
                </a:solidFill>
                <a:latin typeface="Consolas"/>
              </a:defRPr>
            </a:pPr>
            <a:r>
              <a:t>├─ components/     # 기능 전용 컴포넌트</a:t>
            </a:r>
          </a:p>
          <a:p>
            <a:pPr>
              <a:spcAft>
                <a:spcPts val="300"/>
              </a:spcAft>
              <a:defRPr sz="1100">
                <a:solidFill>
                  <a:srgbClr val="212121"/>
                </a:solidFill>
                <a:latin typeface="Consolas"/>
              </a:defRPr>
            </a:pPr>
            <a:r>
              <a:t>│  ├─ KnowledgeCard/</a:t>
            </a:r>
          </a:p>
          <a:p>
            <a:pPr>
              <a:spcAft>
                <a:spcPts val="300"/>
              </a:spcAft>
              <a:defRPr sz="1100">
                <a:solidFill>
                  <a:srgbClr val="212121"/>
                </a:solidFill>
                <a:latin typeface="Consolas"/>
              </a:defRPr>
            </a:pPr>
            <a:r>
              <a:t>│  ├─ KnowledgeList/</a:t>
            </a:r>
          </a:p>
          <a:p>
            <a:pPr>
              <a:spcAft>
                <a:spcPts val="300"/>
              </a:spcAft>
              <a:defRPr sz="1100">
                <a:solidFill>
                  <a:srgbClr val="212121"/>
                </a:solidFill>
                <a:latin typeface="Consolas"/>
              </a:defRPr>
            </a:pPr>
            <a:r>
              <a:t>│  └─ KnowledgeForm/</a:t>
            </a:r>
          </a:p>
          <a:p>
            <a:pPr>
              <a:spcAft>
                <a:spcPts val="300"/>
              </a:spcAft>
              <a:defRPr sz="1100">
                <a:solidFill>
                  <a:srgbClr val="A1887F"/>
                </a:solidFill>
                <a:latin typeface="Consolas"/>
              </a:defRPr>
            </a:pPr>
            <a:r>
              <a:t>├─ hooks/          # 기능 전용 훅</a:t>
            </a:r>
          </a:p>
          <a:p>
            <a:pPr>
              <a:spcAft>
                <a:spcPts val="300"/>
              </a:spcAft>
              <a:defRPr sz="1100">
                <a:solidFill>
                  <a:srgbClr val="212121"/>
                </a:solidFill>
                <a:latin typeface="Consolas"/>
              </a:defRPr>
            </a:pPr>
            <a:r>
              <a:t>│  ├─ useKnowledge.ts</a:t>
            </a:r>
          </a:p>
          <a:p>
            <a:pPr>
              <a:spcAft>
                <a:spcPts val="300"/>
              </a:spcAft>
              <a:defRPr sz="1100">
                <a:solidFill>
                  <a:srgbClr val="212121"/>
                </a:solidFill>
                <a:latin typeface="Consolas"/>
              </a:defRPr>
            </a:pPr>
            <a:r>
              <a:t>│  └─ useKnowledgeList.ts</a:t>
            </a:r>
          </a:p>
          <a:p>
            <a:pPr>
              <a:spcAft>
                <a:spcPts val="300"/>
              </a:spcAft>
              <a:defRPr sz="1100">
                <a:solidFill>
                  <a:srgbClr val="A1887F"/>
                </a:solidFill>
                <a:latin typeface="Consolas"/>
              </a:defRPr>
            </a:pPr>
            <a:r>
              <a:t>├─ services/       # API 호출</a:t>
            </a:r>
          </a:p>
          <a:p>
            <a:pPr>
              <a:spcAft>
                <a:spcPts val="300"/>
              </a:spcAft>
              <a:defRPr sz="1100">
                <a:solidFill>
                  <a:srgbClr val="A1887F"/>
                </a:solidFill>
                <a:latin typeface="Consolas"/>
              </a:defRPr>
            </a:pPr>
            <a:r>
              <a:t>├─ store/          # 상태 관리</a:t>
            </a:r>
          </a:p>
          <a:p>
            <a:pPr>
              <a:spcAft>
                <a:spcPts val="300"/>
              </a:spcAft>
              <a:defRPr sz="1100">
                <a:solidFill>
                  <a:srgbClr val="A1887F"/>
                </a:solidFill>
                <a:latin typeface="Consolas"/>
              </a:defRPr>
            </a:pPr>
            <a:r>
              <a:t>├─ types/          # 타입 정의</a:t>
            </a:r>
          </a:p>
          <a:p>
            <a:pPr>
              <a:spcAft>
                <a:spcPts val="300"/>
              </a:spcAft>
              <a:defRPr sz="1100">
                <a:solidFill>
                  <a:srgbClr val="A1887F"/>
                </a:solidFill>
                <a:latin typeface="Consolas"/>
              </a:defRPr>
            </a:pPr>
            <a:r>
              <a:t>└─ index.ts        # Public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컴포넌트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146304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Pages (페이지)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FEBE9"/>
                </a:solidFill>
                <a:latin typeface="맑은 고딕"/>
              </a:defRPr>
            </a:pPr>
            <a:r>
              <a:t>라우트와 1:1 매핑, 데이터 페칭, 레이아웃 조합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9800"/>
                </a:solidFill>
                <a:latin typeface="맑은 고딕"/>
              </a:defRPr>
            </a:pPr>
            <a:r>
              <a:t>예: DashboardPage, SearchPage, KnowledgeDetailPage</a:t>
            </a:r>
          </a:p>
        </p:txBody>
      </p:sp>
      <p:sp>
        <p:nvSpPr>
          <p:cNvPr id="8" name="Down Arrow 7"/>
          <p:cNvSpPr/>
          <p:nvPr/>
        </p:nvSpPr>
        <p:spPr>
          <a:xfrm>
            <a:off x="4343400" y="2651760"/>
            <a:ext cx="457200" cy="274320"/>
          </a:xfrm>
          <a:prstGeom prst="downArrow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8229600" cy="146304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Features (기능 컴포넌트)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FEBE9"/>
                </a:solidFill>
                <a:latin typeface="맑은 고딕"/>
              </a:defRPr>
            </a:pPr>
            <a:r>
              <a:t>비즈니스 로직 포함, 특정 도메인에 종속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9800"/>
                </a:solidFill>
                <a:latin typeface="맑은 고딕"/>
              </a:defRPr>
            </a:pPr>
            <a:r>
              <a:t>예: KnowledgeList, SearchChat, BookmarkFolder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343400" y="4389120"/>
            <a:ext cx="457200" cy="274320"/>
          </a:xfrm>
          <a:prstGeom prst="downArrow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663440"/>
            <a:ext cx="8229600" cy="1463040"/>
          </a:xfrm>
          <a:prstGeom prst="rect">
            <a:avLst/>
          </a:prstGeom>
          <a:solidFill>
            <a:srgbClr val="A1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0060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Components (공유 컴포넌트)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663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FEBE9"/>
                </a:solidFill>
                <a:latin typeface="맑은 고딕"/>
              </a:defRPr>
            </a:pPr>
            <a:r>
              <a:t>재사용 가능한 UI 컴포넌트, 비즈니스 로직 없음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3212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9800"/>
                </a:solidFill>
                <a:latin typeface="맑은 고딕"/>
              </a:defRPr>
            </a:pPr>
            <a:r>
              <a:t>예: Button, Card, Modal, Table, Input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상태 관리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2743200" cy="9144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서버 상태</a:t>
            </a:r>
            <a:br/>
            <a:r>
              <a:t>(Server State)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103120"/>
            <a:ext cx="2743200" cy="457200"/>
          </a:xfrm>
          <a:prstGeom prst="roundRect">
            <a:avLst/>
          </a:prstGeom>
          <a:solidFill>
            <a:srgbClr val="EFEBE9"/>
          </a:solidFill>
          <a:ln w="2540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1488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4B4B"/>
                </a:solidFill>
                <a:latin typeface="맑은 고딕"/>
              </a:defRPr>
            </a:pPr>
            <a:r>
              <a:t>React Query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51760"/>
            <a:ext cx="2743200" cy="3840480"/>
          </a:xfrm>
          <a:prstGeom prst="rect">
            <a:avLst/>
          </a:prstGeom>
          <a:solidFill>
            <a:srgbClr val="EFEBE9"/>
          </a:solidFill>
          <a:ln w="12700"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맑은 고딕"/>
              </a:defRPr>
            </a:pPr>
            <a:r>
              <a:t>• 지식 목록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맑은 고딕"/>
              </a:defRPr>
            </a:pPr>
            <a:r>
              <a:t>• 검색 결과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맑은 고딕"/>
              </a:defRPr>
            </a:pPr>
            <a:r>
              <a:t>• 사용자 정보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맑은 고딕"/>
              </a:defRPr>
            </a:pPr>
            <a:r>
              <a:t>• 북마크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맑은 고딕"/>
              </a:defRPr>
            </a:pPr>
            <a:r>
              <a:t>• 대시보드 데이터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097280"/>
            <a:ext cx="2743200" cy="914400"/>
          </a:xfrm>
          <a:prstGeom prst="rect">
            <a:avLst/>
          </a:prstGeom>
          <a:solidFill>
            <a:srgbClr val="764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143000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클라이언트 상태</a:t>
            </a:r>
            <a:br/>
            <a:r>
              <a:t>(Client State)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2103120"/>
            <a:ext cx="2743200" cy="457200"/>
          </a:xfrm>
          <a:prstGeom prst="roundRect">
            <a:avLst/>
          </a:prstGeom>
          <a:solidFill>
            <a:srgbClr val="EFEBE9"/>
          </a:solidFill>
          <a:ln w="25400">
            <a:solidFill>
              <a:srgbClr val="764A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21488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764ABC"/>
                </a:solidFill>
                <a:latin typeface="맑은 고딕"/>
              </a:defRPr>
            </a:pPr>
            <a:r>
              <a:t>Redux Toolkit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2651760"/>
            <a:ext cx="2743200" cy="3840480"/>
          </a:xfrm>
          <a:prstGeom prst="rect">
            <a:avLst/>
          </a:prstGeom>
          <a:solidFill>
            <a:srgbClr val="EFEBE9"/>
          </a:solidFill>
          <a:ln w="12700"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79" y="274320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맑은 고딕"/>
              </a:defRPr>
            </a:pPr>
            <a:r>
              <a:t>• 인증 상태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맑은 고딕"/>
              </a:defRPr>
            </a:pPr>
            <a:r>
              <a:t>• UI 상태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맑은 고딕"/>
              </a:defRPr>
            </a:pPr>
            <a:r>
              <a:t>• 폼 입력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맑은 고딕"/>
              </a:defRPr>
            </a:pPr>
            <a:r>
              <a:t>• 모달 상태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맑은 고딕"/>
              </a:defRPr>
            </a:pPr>
            <a:r>
              <a:t>• 사이드바 상태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097280"/>
            <a:ext cx="2743200" cy="914400"/>
          </a:xfrm>
          <a:prstGeom prst="rect">
            <a:avLst/>
          </a:prstGeom>
          <a:solidFill>
            <a:srgbClr val="00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143000"/>
            <a:ext cx="25603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URL 상태</a:t>
            </a:r>
            <a:br/>
            <a:r>
              <a:t>(URL State)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103120"/>
            <a:ext cx="2743200" cy="457200"/>
          </a:xfrm>
          <a:prstGeom prst="roundRect">
            <a:avLst/>
          </a:prstGeom>
          <a:solidFill>
            <a:srgbClr val="EFEBE9"/>
          </a:solidFill>
          <a:ln w="25400">
            <a:solidFill>
              <a:srgbClr val="00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1488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7FFF"/>
                </a:solidFill>
                <a:latin typeface="맑은 고딕"/>
              </a:defRPr>
            </a:pPr>
            <a:r>
              <a:t>React Router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651760"/>
            <a:ext cx="2743200" cy="3840480"/>
          </a:xfrm>
          <a:prstGeom prst="rect">
            <a:avLst/>
          </a:prstGeom>
          <a:solidFill>
            <a:srgbClr val="EFEBE9"/>
          </a:solidFill>
          <a:ln w="12700"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74320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맑은 고딕"/>
              </a:defRPr>
            </a:pPr>
            <a:r>
              <a:t>• 페이지 번호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맑은 고딕"/>
              </a:defRPr>
            </a:pPr>
            <a:r>
              <a:t>• 필터 조건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맑은 고딕"/>
              </a:defRPr>
            </a:pPr>
            <a:r>
              <a:t>• 정렬 옵션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맑은 고딕"/>
              </a:defRPr>
            </a:pPr>
            <a:r>
              <a:t>• 검색어</a:t>
            </a:r>
          </a:p>
          <a:p>
            <a:pPr>
              <a:spcAft>
                <a:spcPts val="800"/>
              </a:spcAft>
              <a:defRPr sz="1300">
                <a:solidFill>
                  <a:srgbClr val="212121"/>
                </a:solidFill>
                <a:latin typeface="맑은 고딕"/>
              </a:defRPr>
            </a:pPr>
            <a:r>
              <a:t>• 탭 선택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아키텍처 장점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4206240" cy="2560320"/>
          </a:xfrm>
          <a:prstGeom prst="roundRect">
            <a:avLst/>
          </a:prstGeom>
          <a:solidFill>
            <a:srgbClr val="EFEBE9"/>
          </a:solidFill>
          <a:ln w="381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4206240" cy="4572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Feature-Based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19"/>
            <a:ext cx="393192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  <a:latin typeface="맑은 고딕"/>
              </a:defRPr>
            </a:pPr>
            <a:r>
              <a:t>✓ 높은 모듈성 - 기능별 독립적 개발/테스트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  <a:latin typeface="맑은 고딕"/>
              </a:defRPr>
            </a:pPr>
            <a:r>
              <a:t>✓ 명확한 책임 분리 - 유지보수 용이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  <a:latin typeface="맑은 고딕"/>
              </a:defRPr>
            </a:pPr>
            <a:r>
              <a:t>✓ 팀 협업 최적화 - 기능별 병렬 개발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  <a:latin typeface="맑은 고딕"/>
              </a:defRPr>
            </a:pPr>
            <a:r>
              <a:t>✓ 재사용성 - 컴포넌트 독립적 배포 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097280"/>
            <a:ext cx="4206240" cy="2560320"/>
          </a:xfrm>
          <a:prstGeom prst="roundRect">
            <a:avLst/>
          </a:prstGeom>
          <a:solidFill>
            <a:srgbClr val="EFEBE9"/>
          </a:solidFill>
          <a:ln w="38100">
            <a:solidFill>
              <a:srgbClr val="764A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54880" y="1097280"/>
            <a:ext cx="4206240" cy="457200"/>
          </a:xfrm>
          <a:prstGeom prst="roundRect">
            <a:avLst/>
          </a:prstGeom>
          <a:solidFill>
            <a:srgbClr val="764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170432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상태 관리 분리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645919"/>
            <a:ext cx="393192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  <a:latin typeface="맑은 고딕"/>
              </a:defRPr>
            </a:pPr>
            <a:r>
              <a:t>✓ Server State vs Client State 분리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  <a:latin typeface="맑은 고딕"/>
              </a:defRPr>
            </a:pPr>
            <a:r>
              <a:t>✓ React Query 캐싱으로 API 호출 최소화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  <a:latin typeface="맑은 고딕"/>
              </a:defRPr>
            </a:pPr>
            <a:r>
              <a:t>✓ Redux로 UI 상태 예측 가능하게 관리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  <a:latin typeface="맑은 고딕"/>
              </a:defRPr>
            </a:pPr>
            <a:r>
              <a:t>✓ 타입 안전성 - TypeScript 완벽 지원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840480"/>
            <a:ext cx="4206240" cy="2560320"/>
          </a:xfrm>
          <a:prstGeom prst="roundRect">
            <a:avLst/>
          </a:prstGeom>
          <a:solidFill>
            <a:srgbClr val="EFEBE9"/>
          </a:solidFill>
          <a:ln w="38100">
            <a:solidFill>
              <a:srgbClr val="00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" y="3840480"/>
            <a:ext cx="4206240" cy="457200"/>
          </a:xfrm>
          <a:prstGeom prst="roundRect">
            <a:avLst/>
          </a:prstGeom>
          <a:solidFill>
            <a:srgbClr val="00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913632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MUI 디자인 시스템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89120"/>
            <a:ext cx="393192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  <a:latin typeface="맑은 고딕"/>
              </a:defRPr>
            </a:pPr>
            <a:r>
              <a:t>✓ 일관된 UI/UX 경험 제공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  <a:latin typeface="맑은 고딕"/>
              </a:defRPr>
            </a:pPr>
            <a:r>
              <a:t>✓ 다크/라이트 모드 완벽 지원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  <a:latin typeface="맑은 고딕"/>
              </a:defRPr>
            </a:pPr>
            <a:r>
              <a:t>✓ Pretendard 폰트로 한글 최적화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  <a:latin typeface="맑은 고딕"/>
              </a:defRPr>
            </a:pPr>
            <a:r>
              <a:t>✓ 반응형 디자인 내장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3840480"/>
            <a:ext cx="4206240" cy="2560320"/>
          </a:xfrm>
          <a:prstGeom prst="roundRect">
            <a:avLst/>
          </a:prstGeom>
          <a:solidFill>
            <a:srgbClr val="EFEBE9"/>
          </a:solidFill>
          <a:ln w="38100">
            <a:solidFill>
              <a:srgbClr val="31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54880" y="3840480"/>
            <a:ext cx="4206240" cy="457200"/>
          </a:xfrm>
          <a:prstGeom prst="roundRect">
            <a:avLst/>
          </a:prstGeom>
          <a:solidFill>
            <a:srgbClr val="317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3913632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성능 최적화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4389120"/>
            <a:ext cx="393192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  <a:latin typeface="맑은 고딕"/>
              </a:defRPr>
            </a:pPr>
            <a:r>
              <a:t>✓ Vite 기반 빠른 빌드 (HMR)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  <a:latin typeface="맑은 고딕"/>
              </a:defRPr>
            </a:pPr>
            <a:r>
              <a:t>✓ 코드 스플리팅 - 필요한 코드만 로드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  <a:latin typeface="맑은 고딕"/>
              </a:defRPr>
            </a:pPr>
            <a:r>
              <a:t>✓ React.memo, useMemo 활용</a:t>
            </a:r>
          </a:p>
          <a:p>
            <a:pPr>
              <a:spcAft>
                <a:spcPts val="600"/>
              </a:spcAft>
              <a:defRPr sz="1100">
                <a:solidFill>
                  <a:srgbClr val="212121"/>
                </a:solidFill>
                <a:latin typeface="맑은 고딕"/>
              </a:defRPr>
            </a:pPr>
            <a:r>
              <a:t>✓ 가상화 - 대량 데이터 효율적 렌더링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레이아웃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맑은 고딕"/>
              </a:defRPr>
            </a:pPr>
            <a:r>
              <a:t>Header (64px) - 로고, 검색, 알림, 프로필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828800" cy="41148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645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Sidebar</a:t>
            </a:r>
            <a:br/>
            <a:r>
              <a:t>(240px)</a:t>
            </a:r>
          </a:p>
          <a:p>
            <a:pPr>
              <a:defRPr sz="1100">
                <a:solidFill>
                  <a:srgbClr val="EFEBE9"/>
                </a:solidFill>
                <a:latin typeface="맑은 고딕"/>
              </a:defRPr>
            </a:pPr>
            <a:r>
              <a:t>• 대시보드</a:t>
            </a:r>
          </a:p>
          <a:p>
            <a:pPr>
              <a:defRPr sz="1100">
                <a:solidFill>
                  <a:srgbClr val="EFEBE9"/>
                </a:solidFill>
                <a:latin typeface="맑은 고딕"/>
              </a:defRPr>
            </a:pPr>
            <a:r>
              <a:t>• 검색</a:t>
            </a:r>
          </a:p>
          <a:p>
            <a:pPr>
              <a:defRPr sz="1100">
                <a:solidFill>
                  <a:srgbClr val="EFEBE9"/>
                </a:solidFill>
                <a:latin typeface="맑은 고딕"/>
              </a:defRPr>
            </a:pPr>
            <a:r>
              <a:t>• 내 지식</a:t>
            </a:r>
          </a:p>
          <a:p>
            <a:pPr>
              <a:defRPr sz="1100">
                <a:solidFill>
                  <a:srgbClr val="EFEBE9"/>
                </a:solidFill>
                <a:latin typeface="맑은 고딕"/>
              </a:defRPr>
            </a:pPr>
            <a:r>
              <a:t>• 북마크</a:t>
            </a:r>
          </a:p>
          <a:p>
            <a:pPr>
              <a:defRPr sz="1100">
                <a:solidFill>
                  <a:srgbClr val="EFEBE9"/>
                </a:solidFill>
                <a:latin typeface="맑은 고딕"/>
              </a:defRPr>
            </a:pPr>
            <a:r>
              <a:t>• 설정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920240"/>
            <a:ext cx="6309360" cy="4114800"/>
          </a:xfrm>
          <a:prstGeom prst="rect">
            <a:avLst/>
          </a:prstGeom>
          <a:solidFill>
            <a:srgbClr val="EFEBE9"/>
          </a:solidFill>
          <a:ln w="25400"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77440" y="1920240"/>
            <a:ext cx="63093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993392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121"/>
                </a:solidFill>
                <a:latin typeface="맑은 고딕"/>
              </a:defRPr>
            </a:pPr>
            <a:r>
              <a:t>Breadcrumbs: Home &gt; Knowledge &gt;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657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A1887F"/>
                </a:solidFill>
                <a:latin typeface="맑은 고딕"/>
              </a:defRPr>
            </a:pPr>
            <a:r>
              <a:t>Main Content Area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126480"/>
            <a:ext cx="8229600" cy="457200"/>
          </a:xfrm>
          <a:prstGeom prst="rect">
            <a:avLst/>
          </a:prstGeom>
          <a:solidFill>
            <a:srgbClr val="A1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2179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맑은 고딕"/>
              </a:defRPr>
            </a:pPr>
            <a:r>
              <a:t>Footer (48px) - Copyright ©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성능 최적화 전략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91440" cy="822960"/>
          </a:xfrm>
          <a:prstGeom prst="roundRect">
            <a:avLst/>
          </a:prstGeom>
          <a:solidFill>
            <a:srgbClr val="61D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1DAFB"/>
                </a:solidFill>
                <a:latin typeface="맑은 고딕"/>
              </a:defRPr>
            </a:pPr>
            <a:r>
              <a:t>코드 스플리팅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19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121"/>
                </a:solidFill>
                <a:latin typeface="맑은 고딕"/>
              </a:defRPr>
            </a:pPr>
            <a:r>
              <a:t>Route-based &amp; Component-based lazy loading으로 초기 로딩 시간 단축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234439"/>
            <a:ext cx="3017520" cy="45720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61D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1DAFB"/>
                </a:solidFill>
                <a:latin typeface="Consolas"/>
              </a:defRPr>
            </a:pPr>
            <a:r>
              <a:t>React.lazy + Suspense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057400"/>
            <a:ext cx="91440" cy="822960"/>
          </a:xfrm>
          <a:prstGeom prst="roundRect">
            <a:avLst/>
          </a:prstGeom>
          <a:solidFill>
            <a:srgbClr val="317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178C6"/>
                </a:solidFill>
                <a:latin typeface="맑은 고딕"/>
              </a:defRPr>
            </a:pPr>
            <a:r>
              <a:t>메모이제이션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121"/>
                </a:solidFill>
                <a:latin typeface="맑은 고딕"/>
              </a:defRPr>
            </a:pPr>
            <a:r>
              <a:t>불필요한 리렌더링 방지로 성능 향상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2194560"/>
            <a:ext cx="3017520" cy="45720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3178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2258568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3178C6"/>
                </a:solidFill>
                <a:latin typeface="Consolas"/>
              </a:defRPr>
            </a:pPr>
            <a:r>
              <a:t>React.memo, useCallback, useMemo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017520"/>
            <a:ext cx="91440" cy="822960"/>
          </a:xfrm>
          <a:prstGeom prst="roundRect">
            <a:avLst/>
          </a:prstGeom>
          <a:solidFill>
            <a:srgbClr val="764A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175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764ABC"/>
                </a:solidFill>
                <a:latin typeface="맑은 고딕"/>
              </a:defRPr>
            </a:pPr>
            <a:r>
              <a:t>가상화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121"/>
                </a:solidFill>
                <a:latin typeface="맑은 고딕"/>
              </a:defRPr>
            </a:pPr>
            <a:r>
              <a:t>대량 리스트 렌더링 최적화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3154679"/>
            <a:ext cx="3017520" cy="45720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764A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3218688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64ABC"/>
                </a:solidFill>
                <a:latin typeface="Consolas"/>
              </a:defRPr>
            </a:pPr>
            <a:r>
              <a:t>react-window, react-virtualized-auto-sizer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977640"/>
            <a:ext cx="91440" cy="8229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97764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9800"/>
                </a:solidFill>
                <a:latin typeface="맑은 고딕"/>
              </a:defRPr>
            </a:pPr>
            <a:r>
              <a:t>이미지 최적화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976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121"/>
                </a:solidFill>
                <a:latin typeface="맑은 고딕"/>
              </a:defRPr>
            </a:pPr>
            <a:r>
              <a:t>Lazy loading + Intersection Observer로 필요한 시점에 로드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4114800"/>
            <a:ext cx="3017520" cy="45720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4178808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9800"/>
                </a:solidFill>
                <a:latin typeface="Consolas"/>
              </a:defRPr>
            </a:pPr>
            <a:r>
              <a:t>LazyImage 컴포넌트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937760"/>
            <a:ext cx="91440" cy="822960"/>
          </a:xfrm>
          <a:prstGeom prst="round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937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4B4B"/>
                </a:solidFill>
                <a:latin typeface="맑은 고딕"/>
              </a:defRPr>
            </a:pPr>
            <a:r>
              <a:t>캐싱 전략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578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121"/>
                </a:solidFill>
                <a:latin typeface="맑은 고딕"/>
              </a:defRPr>
            </a:pPr>
            <a:r>
              <a:t>React Query staleTime/gcTime으로 API 호출 최소화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720" y="5074920"/>
            <a:ext cx="3017520" cy="45720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0" y="5138928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4B4B"/>
                </a:solidFill>
                <a:latin typeface="Consolas"/>
              </a:defRPr>
            </a:pPr>
            <a:r>
              <a:t>5분 stale, 30분 cache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5897880"/>
            <a:ext cx="91440" cy="822960"/>
          </a:xfrm>
          <a:prstGeom prst="roundRect">
            <a:avLst/>
          </a:prstGeom>
          <a:solidFill>
            <a:srgbClr val="00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89788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FFF"/>
                </a:solidFill>
                <a:latin typeface="맑은 고딕"/>
              </a:defRPr>
            </a:pPr>
            <a:r>
              <a:t>번들 최적화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2179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121"/>
                </a:solidFill>
                <a:latin typeface="맑은 고딕"/>
              </a:defRPr>
            </a:pPr>
            <a:r>
              <a:t>Vite 기반 빠른 빌드, Tree Shaking, 코드 압축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60720" y="6035040"/>
            <a:ext cx="3017520" cy="45720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007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0" y="6099048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7FFF"/>
                </a:solidFill>
                <a:latin typeface="Consolas"/>
              </a:defRPr>
            </a:pPr>
            <a:r>
              <a:t>ES modules, Rollup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맑은 고딕"/>
              </a:defRPr>
            </a:pPr>
            <a: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>
                <a:solidFill>
                  <a:srgbClr val="FF9800"/>
                </a:solidFill>
                <a:latin typeface="맑은 고딕"/>
              </a:defRPr>
            </a:pPr>
            <a:r>
              <a:t>✓ React 18 + TypeScript + Vite</a:t>
            </a:r>
          </a:p>
          <a:p>
            <a:pPr algn="ctr">
              <a:spcAft>
                <a:spcPts val="800"/>
              </a:spcAft>
              <a:defRPr sz="1400">
                <a:solidFill>
                  <a:srgbClr val="FF9800"/>
                </a:solidFill>
                <a:latin typeface="맑은 고딕"/>
              </a:defRPr>
            </a:pPr>
            <a:r>
              <a:t>✓ Feature-Based 모듈화 아키텍처</a:t>
            </a:r>
          </a:p>
          <a:p>
            <a:pPr algn="ctr">
              <a:spcAft>
                <a:spcPts val="800"/>
              </a:spcAft>
              <a:defRPr sz="1400">
                <a:solidFill>
                  <a:srgbClr val="FF9800"/>
                </a:solidFill>
                <a:latin typeface="맑은 고딕"/>
              </a:defRPr>
            </a:pPr>
            <a:r>
              <a:t>✓ Server/Client 상태 관리 분리</a:t>
            </a:r>
          </a:p>
          <a:p>
            <a:pPr algn="ctr">
              <a:spcAft>
                <a:spcPts val="800"/>
              </a:spcAft>
              <a:defRPr sz="1400">
                <a:solidFill>
                  <a:srgbClr val="FF9800"/>
                </a:solidFill>
                <a:latin typeface="맑은 고딕"/>
              </a:defRPr>
            </a:pPr>
            <a:r>
              <a:t>✓ MUI 기반 한글 최적화 디자인 시스템</a:t>
            </a:r>
          </a:p>
          <a:p>
            <a:pPr algn="ctr">
              <a:spcAft>
                <a:spcPts val="800"/>
              </a:spcAft>
              <a:defRPr sz="1400">
                <a:solidFill>
                  <a:srgbClr val="FF9800"/>
                </a:solidFill>
                <a:latin typeface="맑은 고딕"/>
              </a:defRPr>
            </a:pPr>
            <a:r>
              <a:t>✓ 성능 최적화 (코드 스플리팅, 캐싱, 가상화)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