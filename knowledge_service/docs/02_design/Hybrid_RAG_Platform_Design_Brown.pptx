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E2723"/>
          </a:solidFill>
          <a:ln>
            <a:solidFill>
              <a:srgbClr val="3E2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4572000" cy="4114800"/>
          </a:xfrm>
          <a:prstGeom prst="ellipse">
            <a:avLst/>
          </a:prstGeom>
          <a:solidFill>
            <a:srgbClr val="795548"/>
          </a:solidFill>
          <a:ln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371600"/>
            <a:ext cx="4572000" cy="3657600"/>
          </a:xfrm>
          <a:prstGeom prst="ellipse">
            <a:avLst/>
          </a:prstGeom>
          <a:solidFill>
            <a:srgbClr val="A1887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1887F"/>
                </a:solidFill>
                <a:latin typeface="맑은 고딕"/>
              </a:defRPr>
            </a:pPr>
            <a:r>
              <a:t>Neo4j Graph RAG 기반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Hybrid 지식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107"/>
                </a:solidFill>
                <a:latin typeface="맑은 고딕"/>
              </a:defRPr>
            </a:pPr>
            <a:r>
              <a:t>상세 설계서 v2.3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572000"/>
            <a:ext cx="2560320" cy="914400"/>
          </a:xfrm>
          <a:prstGeom prst="round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Vector + Graph</a:t>
            </a:r>
            <a:br/>
            <a:r>
              <a:t>Hybrid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4572000"/>
            <a:ext cx="2560320" cy="914400"/>
          </a:xfrm>
          <a:prstGeom prst="round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DeepSeek V3.2</a:t>
            </a:r>
            <a:br/>
            <a:r>
              <a:t>95% 비용 절감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4572000"/>
            <a:ext cx="2560320" cy="914400"/>
          </a:xfrm>
          <a:prstGeom prst="round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3-Store</a:t>
            </a:r>
            <a:br/>
            <a:r>
              <a:t>아키텍처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1887F"/>
                </a:solidFill>
                <a:latin typeface="맑은 고딕"/>
              </a:defRPr>
            </a:pPr>
            <a:r>
              <a:t>2026-01-14 | Review 완료 (코드 검증됨)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95548"/>
          </a:solidFill>
          <a:ln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System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EBE9"/>
                </a:solidFill>
                <a:latin typeface="맑은 고딕"/>
              </a:defRPr>
            </a:pPr>
            <a:r>
              <a:t>전체 시스템 구조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11612880" cy="548640"/>
          </a:xfrm>
          <a:prstGeom prst="roundRect">
            <a:avLst/>
          </a:prstGeom>
          <a:solidFill>
            <a:srgbClr val="EFEBE9"/>
          </a:solidFill>
          <a:ln>
            <a:solidFill>
              <a:srgbClr val="EF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E2723"/>
                </a:solidFill>
                <a:latin typeface="맑은 고딕"/>
              </a:defRPr>
            </a:pPr>
            <a:r>
              <a:t>5-Layer Architecture: 사용자 → API Gateway → 처리 계층 → 검색 계층 → 저장 계층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E9E9E"/>
                </a:solidFill>
                <a:latin typeface="맑은 고딕"/>
              </a:defRPr>
            </a:pPr>
            <a:r>
              <a:t>사용자 계층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194560"/>
            <a:ext cx="1828800" cy="109728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사용자</a:t>
            </a:r>
            <a:br/>
            <a:br/>
            <a:r>
              <a:t>Web UI</a:t>
            </a:r>
            <a:br/>
            <a:r>
              <a:t>API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  <a:latin typeface="맑은 고딕"/>
              </a:defRPr>
            </a:pPr>
            <a:r>
              <a:t>React SPA</a:t>
            </a:r>
            <a:br/>
            <a:r>
              <a:t>TypeScript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48840" y="2606040"/>
            <a:ext cx="320040" cy="320040"/>
          </a:xfrm>
          <a:prstGeom prst="rightArrow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E9E9E"/>
                </a:solidFill>
                <a:latin typeface="맑은 고딕"/>
              </a:defRPr>
            </a:pPr>
            <a:r>
              <a:t>API Gateway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2194560"/>
            <a:ext cx="1828800" cy="1097280"/>
          </a:xfrm>
          <a:prstGeom prst="roundRect">
            <a:avLst/>
          </a:prstGeom>
          <a:solidFill>
            <a:srgbClr val="795548"/>
          </a:solidFill>
          <a:ln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Spring Boot</a:t>
            </a:r>
            <a:br/>
            <a:br/>
            <a:r>
              <a:t>REST API</a:t>
            </a:r>
            <a:br/>
            <a:r>
              <a:t>JWT 인증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  <a:latin typeface="맑은 고딕"/>
              </a:defRPr>
            </a:pPr>
            <a:r>
              <a:t>인증/인가</a:t>
            </a:r>
            <a:br/>
            <a:r>
              <a:t>라우팅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434840" y="2606040"/>
            <a:ext cx="320040" cy="320040"/>
          </a:xfrm>
          <a:prstGeom prst="rightArrow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E9E9E"/>
                </a:solidFill>
                <a:latin typeface="맑은 고딕"/>
              </a:defRPr>
            </a:pPr>
            <a:r>
              <a:t>처리 계층 (VIP Pipeline)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2194560"/>
            <a:ext cx="3200400" cy="228600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2240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95548"/>
                </a:solidFill>
                <a:latin typeface="맑은 고딕"/>
              </a:defRPr>
            </a:pPr>
            <a:r>
              <a:t>LangGraph Orchestrator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560320"/>
            <a:ext cx="2834640" cy="50292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Stage 1: 엔티티 추출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3154679"/>
            <a:ext cx="2834640" cy="50292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Stage 2: 오케스트레이션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3749039"/>
            <a:ext cx="2834640" cy="502920"/>
          </a:xfrm>
          <a:prstGeom prst="round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Stage 3: 답변 합성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526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  <a:latin typeface="맑은 고딕"/>
              </a:defRPr>
            </a:pPr>
            <a:r>
              <a:t>DeepSeek-Chat / Reasoner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092440" y="3200400"/>
            <a:ext cx="320040" cy="320040"/>
          </a:xfrm>
          <a:prstGeom prst="rightArrow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E9E9E"/>
                </a:solidFill>
                <a:latin typeface="맑은 고딕"/>
              </a:defRPr>
            </a:pPr>
            <a:r>
              <a:t>검색 계층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2194560"/>
            <a:ext cx="1828800" cy="91440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Vector Search</a:t>
            </a:r>
            <a:br/>
            <a:r>
              <a:t>Elasticsearch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3200400"/>
            <a:ext cx="1828800" cy="914400"/>
          </a:xfrm>
          <a:prstGeom prst="roundRect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Graph Search</a:t>
            </a:r>
            <a:br/>
            <a:r>
              <a:t>Neo4j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160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800"/>
                </a:solidFill>
                <a:latin typeface="맑은 고딕"/>
              </a:defRPr>
            </a:pPr>
            <a:r>
              <a:t>RRF Fusion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378440" y="2926080"/>
            <a:ext cx="320040" cy="320040"/>
          </a:xfrm>
          <a:prstGeom prst="rightArrow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0" y="1920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E9E9E"/>
                </a:solidFill>
                <a:latin typeface="맑은 고딕"/>
              </a:defRPr>
            </a:pPr>
            <a:r>
              <a:t>저장 계층</a:t>
            </a:r>
          </a:p>
        </p:txBody>
      </p:sp>
      <p:sp>
        <p:nvSpPr>
          <p:cNvPr id="28" name="Data 27"/>
          <p:cNvSpPr/>
          <p:nvPr/>
        </p:nvSpPr>
        <p:spPr>
          <a:xfrm>
            <a:off x="10789920" y="2194560"/>
            <a:ext cx="1280160" cy="640080"/>
          </a:xfrm>
          <a:prstGeom prst="flowChartInputOutpu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PG</a:t>
            </a:r>
          </a:p>
        </p:txBody>
      </p:sp>
      <p:sp>
        <p:nvSpPr>
          <p:cNvPr id="29" name="Data 28"/>
          <p:cNvSpPr/>
          <p:nvPr/>
        </p:nvSpPr>
        <p:spPr>
          <a:xfrm>
            <a:off x="10789920" y="2926080"/>
            <a:ext cx="1280160" cy="640080"/>
          </a:xfrm>
          <a:prstGeom prst="flowChartInputOutpu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ES</a:t>
            </a:r>
          </a:p>
        </p:txBody>
      </p:sp>
      <p:sp>
        <p:nvSpPr>
          <p:cNvPr id="30" name="Data 29"/>
          <p:cNvSpPr/>
          <p:nvPr/>
        </p:nvSpPr>
        <p:spPr>
          <a:xfrm>
            <a:off x="10789920" y="3657600"/>
            <a:ext cx="1280160" cy="640080"/>
          </a:xfrm>
          <a:prstGeom prst="flowChartInputOutput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Neo4j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484632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5548"/>
                </a:solidFill>
                <a:latin typeface="맑은 고딕"/>
              </a:defRPr>
            </a:pPr>
            <a:r>
              <a:t>핵심 아키텍처 특징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166360"/>
            <a:ext cx="1645920" cy="411480"/>
          </a:xfrm>
          <a:prstGeom prst="roundRect">
            <a:avLst/>
          </a:prstGeom>
          <a:solidFill>
            <a:srgbClr val="A1887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마이크로서비스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79" y="52120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SpringBoot(비즈니스) + AI Service(Python) 분리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166360"/>
            <a:ext cx="1645920" cy="411480"/>
          </a:xfrm>
          <a:prstGeom prst="roundRect">
            <a:avLst/>
          </a:prstGeom>
          <a:solidFill>
            <a:srgbClr val="A1887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VIP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52120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Value → Intelligent → Planning 3단계 LLM 처리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5669280"/>
            <a:ext cx="1645920" cy="411480"/>
          </a:xfrm>
          <a:prstGeom prst="roundRect">
            <a:avLst/>
          </a:prstGeom>
          <a:solidFill>
            <a:srgbClr val="A1887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Hybrid Search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79" y="5715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Vector(의미) + Graph(관계) 검색 융합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5669280"/>
            <a:ext cx="1645920" cy="411480"/>
          </a:xfrm>
          <a:prstGeom prst="roundRect">
            <a:avLst/>
          </a:prstGeom>
          <a:solidFill>
            <a:srgbClr val="A1887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3-Store 전략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5715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PG(SSOT) + ES(검색) + Neo4j(그래프) 역할 분리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95548"/>
          </a:solidFill>
          <a:ln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Service Architecture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EBE9"/>
                </a:solidFill>
                <a:latin typeface="맑은 고딕"/>
              </a:defRPr>
            </a:pPr>
            <a:r>
              <a:t>서비스 분리 아키텍처 상세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286000" cy="137160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1887F"/>
                </a:solidFill>
                <a:latin typeface="맑은 고딕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React 18 + TypeScript</a:t>
            </a:r>
            <a:br/>
            <a:r>
              <a:t>TailwindCSS</a:t>
            </a:r>
            <a:br/>
            <a:r>
              <a:t>React Query</a:t>
            </a:r>
            <a:br/>
            <a:br/>
            <a:r>
              <a:t>반응형 SPA</a:t>
            </a:r>
          </a:p>
        </p:txBody>
      </p:sp>
      <p:sp>
        <p:nvSpPr>
          <p:cNvPr id="8" name="Down Arrow 7"/>
          <p:cNvSpPr/>
          <p:nvPr/>
        </p:nvSpPr>
        <p:spPr>
          <a:xfrm>
            <a:off x="1280160" y="2788920"/>
            <a:ext cx="274320" cy="320040"/>
          </a:xfrm>
          <a:prstGeom prst="downArrow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" y="3200400"/>
            <a:ext cx="5029200" cy="3017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3200400"/>
            <a:ext cx="5029200" cy="457200"/>
          </a:xfrm>
          <a:prstGeom prst="roundRect">
            <a:avLst/>
          </a:prstGeom>
          <a:solidFill>
            <a:srgbClr val="795548"/>
          </a:solidFill>
          <a:ln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SpringBoot Backend (Java 17+)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39"/>
            <a:ext cx="1508760" cy="105156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794759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795548"/>
                </a:solidFill>
                <a:latin typeface="맑은 고딕"/>
              </a:defRPr>
            </a:pPr>
            <a:r>
              <a:t>REST API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E9E9E"/>
                </a:solidFill>
                <a:latin typeface="맑은 고딕"/>
              </a:defRPr>
            </a:pPr>
            <a:r>
              <a:t>엔드포인트 정의</a:t>
            </a:r>
            <a:br/>
            <a:r>
              <a:t>요청/응답 처리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3749039"/>
            <a:ext cx="1508760" cy="105156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39" y="3794759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795548"/>
                </a:solidFill>
                <a:latin typeface="맑은 고딕"/>
              </a:defRPr>
            </a:pPr>
            <a:r>
              <a:t>Business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39" y="411480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E9E9E"/>
                </a:solidFill>
                <a:latin typeface="맑은 고딕"/>
              </a:defRPr>
            </a:pPr>
            <a:r>
              <a:t>비즈니스 로직</a:t>
            </a:r>
            <a:br/>
            <a:r>
              <a:t>트랜잭션 관리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3749039"/>
            <a:ext cx="1508760" cy="105156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59" y="3794759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795548"/>
                </a:solidFill>
                <a:latin typeface="맑은 고딕"/>
              </a:defRPr>
            </a:pPr>
            <a:r>
              <a:t>JPA Repositories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59" y="411480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E9E9E"/>
                </a:solidFill>
                <a:latin typeface="맑은 고딕"/>
              </a:defRPr>
            </a:pPr>
            <a:r>
              <a:t>데이터 접근</a:t>
            </a:r>
            <a:br/>
            <a:r>
              <a:t>CRUD 처리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937759"/>
            <a:ext cx="1508760" cy="105156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983479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795548"/>
                </a:solidFill>
                <a:latin typeface="맑은 고딕"/>
              </a:defRPr>
            </a:pPr>
            <a:r>
              <a:t>WebClient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0352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E9E9E"/>
                </a:solidFill>
                <a:latin typeface="맑은 고딕"/>
              </a:defRPr>
            </a:pPr>
            <a:r>
              <a:t>AI Service 호출</a:t>
            </a:r>
            <a:br/>
            <a:r>
              <a:t>비동기 통신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03120" y="4937759"/>
            <a:ext cx="1508760" cy="105156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39" y="4983479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795548"/>
                </a:solidFill>
                <a:latin typeface="맑은 고딕"/>
              </a:defRPr>
            </a:pPr>
            <a:r>
              <a:t>Spring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39" y="530352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E9E9E"/>
                </a:solidFill>
                <a:latin typeface="맑은 고딕"/>
              </a:defRPr>
            </a:pPr>
            <a:r>
              <a:t>JWT 인증</a:t>
            </a:r>
            <a:br/>
            <a:r>
              <a:t>권한 관리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394960" y="4389120"/>
            <a:ext cx="457200" cy="457200"/>
          </a:xfrm>
          <a:prstGeom prst="rightArrow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0" y="4892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9800"/>
                </a:solidFill>
                <a:latin typeface="맑은 고딕"/>
              </a:defRPr>
            </a:pPr>
            <a:r>
              <a:t>REST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1371600"/>
            <a:ext cx="5943600" cy="48463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0" y="1371600"/>
            <a:ext cx="5943600" cy="457200"/>
          </a:xfrm>
          <a:prstGeom prst="round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AI Service (Python 3.11+ / FastAPI)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1920240"/>
            <a:ext cx="1783080" cy="123444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19659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800"/>
                </a:solidFill>
                <a:latin typeface="맑은 고딕"/>
              </a:defRPr>
            </a:pPr>
            <a:r>
              <a:t>FastAPI Router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2331720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12121"/>
                </a:solidFill>
                <a:latin typeface="맑은 고딕"/>
              </a:defRPr>
            </a:pPr>
            <a:r>
              <a:t>API 엔드포인트</a:t>
            </a:r>
            <a:br/>
            <a:r>
              <a:t>/search, /extract, /embed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1920240"/>
            <a:ext cx="1783080" cy="123444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40" y="19659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800"/>
                </a:solidFill>
                <a:latin typeface="맑은 고딕"/>
              </a:defRPr>
            </a:pPr>
            <a:r>
              <a:t>VIP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2331720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12121"/>
                </a:solidFill>
                <a:latin typeface="맑은 고딕"/>
              </a:defRPr>
            </a:pPr>
            <a:r>
              <a:t>3단계 LLM 처리</a:t>
            </a:r>
            <a:br/>
            <a:r>
              <a:t>LangGraph 오케스트레이션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66960" y="1920240"/>
            <a:ext cx="1783080" cy="123444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12680" y="19659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800"/>
                </a:solidFill>
                <a:latin typeface="맑은 고딕"/>
              </a:defRPr>
            </a:pPr>
            <a:r>
              <a:t>Search Service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2331720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12121"/>
                </a:solidFill>
                <a:latin typeface="맑은 고딕"/>
              </a:defRPr>
            </a:pPr>
            <a:r>
              <a:t>Hybrid 검색</a:t>
            </a:r>
            <a:br/>
            <a:r>
              <a:t>Vector + Graph 융합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291840"/>
            <a:ext cx="1783080" cy="123444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3337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800"/>
                </a:solidFill>
                <a:latin typeface="맑은 고딕"/>
              </a:defRPr>
            </a:pPr>
            <a:r>
              <a:t>Extract Service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3703320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12121"/>
                </a:solidFill>
                <a:latin typeface="맑은 고딕"/>
              </a:defRPr>
            </a:pPr>
            <a:r>
              <a:t>엔티티 추출</a:t>
            </a:r>
            <a:br/>
            <a:r>
              <a:t>메타데이터 생성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3291840"/>
            <a:ext cx="1783080" cy="123444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3337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800"/>
                </a:solidFill>
                <a:latin typeface="맑은 고딕"/>
              </a:defRPr>
            </a:pPr>
            <a:r>
              <a:t>Embed 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3703320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12121"/>
                </a:solidFill>
                <a:latin typeface="맑은 고딕"/>
              </a:defRPr>
            </a:pPr>
            <a:r>
              <a:t>임베딩 생성</a:t>
            </a:r>
            <a:br/>
            <a:r>
              <a:t>BGE-M3 모델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66960" y="3291840"/>
            <a:ext cx="1783080" cy="123444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12680" y="3337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800"/>
                </a:solidFill>
                <a:latin typeface="맑은 고딕"/>
              </a:defRPr>
            </a:pPr>
            <a:r>
              <a:t>LLM Client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3703320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12121"/>
                </a:solidFill>
                <a:latin typeface="맑은 고딕"/>
              </a:defRPr>
            </a:pPr>
            <a:r>
              <a:t>DeepSeek API</a:t>
            </a:r>
            <a:br/>
            <a:r>
              <a:t>Chat/Reasoner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26480" y="4754880"/>
            <a:ext cx="2743200" cy="457200"/>
          </a:xfrm>
          <a:prstGeom prst="roundRect">
            <a:avLst/>
          </a:prstGeom>
          <a:solidFill>
            <a:srgbClr val="3E2723"/>
          </a:solidFill>
          <a:ln>
            <a:solidFill>
              <a:srgbClr val="3E2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DeepSeek API (External)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560" y="4754880"/>
            <a:ext cx="2743200" cy="457200"/>
          </a:xfrm>
          <a:prstGeom prst="roundRect">
            <a:avLst/>
          </a:prstGeom>
          <a:solidFill>
            <a:srgbClr val="A1887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BGE-M3 (Local Model)</a:t>
            </a:r>
          </a:p>
        </p:txBody>
      </p:sp>
      <p:sp>
        <p:nvSpPr>
          <p:cNvPr id="50" name="Down Arrow 49"/>
          <p:cNvSpPr/>
          <p:nvPr/>
        </p:nvSpPr>
        <p:spPr>
          <a:xfrm>
            <a:off x="2194560" y="6263640"/>
            <a:ext cx="274320" cy="320040"/>
          </a:xfrm>
          <a:prstGeom prst="downArrow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own Arrow 50"/>
          <p:cNvSpPr/>
          <p:nvPr/>
        </p:nvSpPr>
        <p:spPr>
          <a:xfrm>
            <a:off x="7772400" y="5257800"/>
            <a:ext cx="274320" cy="320040"/>
          </a:xfrm>
          <a:prstGeom prst="downArrow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own Arrow 51"/>
          <p:cNvSpPr/>
          <p:nvPr/>
        </p:nvSpPr>
        <p:spPr>
          <a:xfrm>
            <a:off x="10058400" y="5257800"/>
            <a:ext cx="274320" cy="320040"/>
          </a:xfrm>
          <a:prstGeom prst="downArrow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95548"/>
          </a:solidFill>
          <a:ln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Architecture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EBE9"/>
                </a:solidFill>
                <a:latin typeface="맑은 고딕"/>
              </a:defRPr>
            </a:pPr>
            <a:r>
              <a:t>아키텍처 장점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11612880" cy="411480"/>
          </a:xfrm>
          <a:prstGeom prst="roundRect">
            <a:avLst/>
          </a:prstGeom>
          <a:solidFill>
            <a:srgbClr val="795548"/>
          </a:solidFill>
          <a:ln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서비스 분리의 장점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874519"/>
            <a:ext cx="2743200" cy="123444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9202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5548"/>
                </a:solidFill>
                <a:latin typeface="맑은 고딕"/>
              </a:defRPr>
            </a:pPr>
            <a:r>
              <a:t>독립 배포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79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SpringBoot와 AI Service 독립 배포 가능</a:t>
            </a:r>
            <a:br/>
            <a:r>
              <a:t>장애 격리 및 롤백 용이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874519"/>
            <a:ext cx="2743200" cy="123444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9202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5548"/>
                </a:solidFill>
                <a:latin typeface="맑은 고딕"/>
              </a:defRPr>
            </a:pPr>
            <a:r>
              <a:t>기술 최적화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240279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Java: 엔터프라이즈 트랜잭션</a:t>
            </a:r>
            <a:br/>
            <a:r>
              <a:t>Python: AI/ML 생태계 활용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2743200" cy="123444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9202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5548"/>
                </a:solidFill>
                <a:latin typeface="맑은 고딕"/>
              </a:defRPr>
            </a:pPr>
            <a:r>
              <a:t>확장성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240279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AI 부하 증가시 AI Service만 스케일 아웃</a:t>
            </a:r>
            <a:br/>
            <a:r>
              <a:t>비용 효율적 리소스 관리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874519"/>
            <a:ext cx="2743200" cy="123444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9202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95548"/>
                </a:solidFill>
                <a:latin typeface="맑은 고딕"/>
              </a:defRPr>
            </a:pPr>
            <a:r>
              <a:t>팀 분리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240279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백엔드팀 / AI팀 독립 개발</a:t>
            </a:r>
            <a:br/>
            <a:r>
              <a:t>병렬 개발로 생산성 향상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200400"/>
            <a:ext cx="11612880" cy="411480"/>
          </a:xfrm>
          <a:prstGeom prst="round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VIP 파이프라인의 장점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703320"/>
            <a:ext cx="2743200" cy="123444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749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맑은 고딕"/>
              </a:defRPr>
            </a:pPr>
            <a:r>
              <a:t>단계별 최적화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0690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각 Stage에 최적 모델 배치</a:t>
            </a:r>
            <a:br/>
            <a:r>
              <a:t>Chat: 단순작업, Reasoner: 복잡추론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3703320"/>
            <a:ext cx="2743200" cy="123444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3749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맑은 고딕"/>
              </a:defRPr>
            </a:pPr>
            <a:r>
              <a:t>비용 절감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0690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95% 비용 절감 ($45.50 → $2.26)</a:t>
            </a:r>
            <a:br/>
            <a:r>
              <a:t>캐시 히트로 추가 절감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703320"/>
            <a:ext cx="2743200" cy="123444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749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맑은 고딕"/>
              </a:defRPr>
            </a:pPr>
            <a:r>
              <a:t>품질 향상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0690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단계별 검증으로 오류 조기 발견</a:t>
            </a:r>
            <a:br/>
            <a:r>
              <a:t>중간 결과 재사용 가능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3703320"/>
            <a:ext cx="2743200" cy="123444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3749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맑은 고딕"/>
              </a:defRPr>
            </a:pPr>
            <a:r>
              <a:t>유연한 확장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0690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새로운 Stage 추가 용이</a:t>
            </a:r>
            <a:br/>
            <a:r>
              <a:t>A/B 테스트 지원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5029200"/>
            <a:ext cx="11612880" cy="41148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Hybrid Search의 장점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532120"/>
            <a:ext cx="2743200" cy="123444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577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맑은 고딕"/>
              </a:defRPr>
            </a:pPr>
            <a:r>
              <a:t>높은 정확도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8978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Vector: 의미적 유사도</a:t>
            </a:r>
            <a:br/>
            <a:r>
              <a:t>Graph: 관계 기반 확장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0" y="5532120"/>
            <a:ext cx="2743200" cy="123444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0" y="5577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맑은 고딕"/>
              </a:defRPr>
            </a:pPr>
            <a:r>
              <a:t>숨겨진 연결 발견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58978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문서 간 직접 연결 없어도</a:t>
            </a:r>
            <a:br/>
            <a:r>
              <a:t>엔티티 관계로 연결 발견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5532120"/>
            <a:ext cx="2743200" cy="123444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5577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맑은 고딕"/>
              </a:defRPr>
            </a:pPr>
            <a:r>
              <a:t>컨텍스트 풍부화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8978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단순 키워드 매칭 넘어</a:t>
            </a:r>
            <a:br/>
            <a:r>
              <a:t>관련 문서 자동 확장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60" y="5532120"/>
            <a:ext cx="2743200" cy="123444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5577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맑은 고딕"/>
              </a:defRPr>
            </a:pPr>
            <a:r>
              <a:t>RRF 융합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58978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여러 검색 결과 최적 결합</a:t>
            </a:r>
            <a:br/>
            <a:r>
              <a:t>단일 검색 대비 성능 향상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95548"/>
          </a:solidFill>
          <a:ln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PostgreSQL - SSOT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EBE9"/>
                </a:solidFill>
                <a:latin typeface="맑은 고딕"/>
              </a:defRPr>
            </a:pPr>
            <a:r>
              <a:t>단일 진실 공급원 (마스터 DB)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11612880" cy="64008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PostgreSQL은 모든 데이터의 마스터 레코드 (Single Source of Truth)로서 데이터 일관성을 보장합니다</a:t>
            </a:r>
          </a:p>
        </p:txBody>
      </p:sp>
      <p:sp>
        <p:nvSpPr>
          <p:cNvPr id="6" name="Data 5"/>
          <p:cNvSpPr/>
          <p:nvPr/>
        </p:nvSpPr>
        <p:spPr>
          <a:xfrm>
            <a:off x="457200" y="2103120"/>
            <a:ext cx="1828800" cy="1097280"/>
          </a:xfrm>
          <a:prstGeom prst="flowChartInputOutpu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PostgreSQL</a:t>
            </a:r>
            <a:br/>
            <a:r>
              <a:t>16+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2103120"/>
            <a:ext cx="2194560" cy="292608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83279" y="2194560"/>
            <a:ext cx="548640" cy="548640"/>
          </a:xfrm>
          <a:prstGeom prst="ellipse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CAF50"/>
                </a:solidFill>
                <a:latin typeface="맑은 고딕"/>
              </a:defRPr>
            </a:pPr>
            <a:r>
              <a:t>ACID 트랜잭션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200400"/>
            <a:ext cx="2011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완벽한 트랜잭션 보장</a:t>
            </a:r>
            <a:br/>
            <a:br/>
            <a:r>
              <a:t>- Atomicity: 원자성</a:t>
            </a:r>
            <a:br/>
            <a:r>
              <a:t>- Consistency: 일관성</a:t>
            </a:r>
            <a:br/>
            <a:r>
              <a:t>- Isolation: 격리성</a:t>
            </a:r>
            <a:br/>
            <a:r>
              <a:t>- Durability: 지속성</a:t>
            </a:r>
            <a:br/>
            <a:br/>
            <a:r>
              <a:t>금융급 데이터 신뢰성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103120"/>
            <a:ext cx="2194560" cy="292608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60720" y="2194560"/>
            <a:ext cx="548640" cy="548640"/>
          </a:xfrm>
          <a:prstGeom prst="ellipse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CAF50"/>
                </a:solidFill>
                <a:latin typeface="맑은 고딕"/>
              </a:defRPr>
            </a:pPr>
            <a:r>
              <a:t>관계형 무결성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200400"/>
            <a:ext cx="2011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참조 무결성 보장</a:t>
            </a:r>
            <a:br/>
            <a:br/>
            <a:r>
              <a:t>- FK 제약조건</a:t>
            </a:r>
            <a:br/>
            <a:r>
              <a:t>- CASCADE 삭제</a:t>
            </a:r>
            <a:br/>
            <a:r>
              <a:t>- CHECK 제약조건</a:t>
            </a:r>
            <a:br/>
            <a:r>
              <a:t>- UNIQUE 보장</a:t>
            </a:r>
            <a:br/>
            <a:br/>
            <a:r>
              <a:t>데이터 품질 자동 유지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103120"/>
            <a:ext cx="2194560" cy="292608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38160" y="2194560"/>
            <a:ext cx="548640" cy="548640"/>
          </a:xfrm>
          <a:prstGeom prst="ellipse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CAF50"/>
                </a:solidFill>
                <a:latin typeface="맑은 고딕"/>
              </a:defRPr>
            </a:pPr>
            <a:r>
              <a:t>복잡한 쿼리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200400"/>
            <a:ext cx="2011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고급 SQL 지원</a:t>
            </a:r>
            <a:br/>
            <a:br/>
            <a:r>
              <a:t>- JOIN 최적화</a:t>
            </a:r>
            <a:br/>
            <a:r>
              <a:t>- Window Functions</a:t>
            </a:r>
            <a:br/>
            <a:r>
              <a:t>- CTE (WITH절)</a:t>
            </a:r>
            <a:br/>
            <a:r>
              <a:t>- JSONB 지원</a:t>
            </a:r>
            <a:br/>
            <a:br/>
            <a:r>
              <a:t>복잡한 비즈니스 로직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2103120"/>
            <a:ext cx="2194560" cy="292608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0" y="2194560"/>
            <a:ext cx="548640" cy="548640"/>
          </a:xfrm>
          <a:prstGeom prst="ellipse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CAF50"/>
                </a:solidFill>
                <a:latin typeface="맑은 고딕"/>
              </a:defRPr>
            </a:pPr>
            <a:r>
              <a:t>확장성 &amp; 성능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200400"/>
            <a:ext cx="2011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엔터프라이즈 검증</a:t>
            </a:r>
            <a:br/>
            <a:br/>
            <a:r>
              <a:t>- 파티셔닝</a:t>
            </a:r>
            <a:br/>
            <a:r>
              <a:t>- 병렬 쿼리</a:t>
            </a:r>
            <a:br/>
            <a:r>
              <a:t>- VACUUM 자동화</a:t>
            </a:r>
            <a:br/>
            <a:r>
              <a:t>- WAL 복제</a:t>
            </a:r>
            <a:br/>
            <a:br/>
            <a:r>
              <a:t>대용량 데이터 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맑은 고딕"/>
              </a:defRPr>
            </a:pPr>
            <a:r>
              <a:t>주요 테이블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532120"/>
            <a:ext cx="1371600" cy="36576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documents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577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문서 마스터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5532120"/>
            <a:ext cx="1371600" cy="36576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chunks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79" y="5577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청크 저장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5532120"/>
            <a:ext cx="1371600" cy="36576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entities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5577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엔티티 마스터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5943600"/>
            <a:ext cx="1371600" cy="36576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projects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989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프로젝트 정보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5943600"/>
            <a:ext cx="1371600" cy="36576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persons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79" y="5989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인물 정보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5943600"/>
            <a:ext cx="1371600" cy="36576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entity_relationships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5989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엔티티 관계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95548"/>
          </a:solidFill>
          <a:ln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Elasticsearch - Vector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EBE9"/>
                </a:solidFill>
                <a:latin typeface="맑은 고딕"/>
              </a:defRPr>
            </a:pPr>
            <a:r>
              <a:t>벡터 검색 + 메타데이터 통합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11612880" cy="64008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Elasticsearch는 Dense/Sparse 벡터 검색과 메타데이터 필터링을 단일 쿼리로 처리합니다 (제로 조인)</a:t>
            </a:r>
          </a:p>
        </p:txBody>
      </p:sp>
      <p:sp>
        <p:nvSpPr>
          <p:cNvPr id="6" name="Data 5"/>
          <p:cNvSpPr/>
          <p:nvPr/>
        </p:nvSpPr>
        <p:spPr>
          <a:xfrm>
            <a:off x="457200" y="2103120"/>
            <a:ext cx="1828800" cy="1097280"/>
          </a:xfrm>
          <a:prstGeom prst="flowChartInputOutpu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Elastic</a:t>
            </a:r>
            <a:br/>
            <a:r>
              <a:t>search 8.x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2103120"/>
            <a:ext cx="2194560" cy="292608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83279" y="2194560"/>
            <a:ext cx="548640" cy="548640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88"/>
                </a:solidFill>
                <a:latin typeface="맑은 고딕"/>
              </a:defRPr>
            </a:pPr>
            <a:r>
              <a:t>Dense Vector 검색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200400"/>
            <a:ext cx="2011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의미론적 유사도</a:t>
            </a:r>
            <a:br/>
            <a:br/>
            <a:r>
              <a:t>- BGE-M3 1024차원</a:t>
            </a:r>
            <a:br/>
            <a:r>
              <a:t>- kNN 근접 검색</a:t>
            </a:r>
            <a:br/>
            <a:r>
              <a:t>- 자연어 이해</a:t>
            </a:r>
            <a:br/>
            <a:r>
              <a:t>- 동의어/유사어 처리</a:t>
            </a:r>
            <a:br/>
            <a:br/>
            <a:r>
              <a:t>질문과 문서 의미 매칭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103120"/>
            <a:ext cx="2194560" cy="292608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60720" y="2194560"/>
            <a:ext cx="548640" cy="548640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88"/>
                </a:solidFill>
                <a:latin typeface="맑은 고딕"/>
              </a:defRPr>
            </a:pPr>
            <a:r>
              <a:t>Sparse Vector 검색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200400"/>
            <a:ext cx="2011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키워드 가중치</a:t>
            </a:r>
            <a:br/>
            <a:br/>
            <a:r>
              <a:t>- BM25 스타일</a:t>
            </a:r>
            <a:br/>
            <a:r>
              <a:t>- 정확한 용어 매칭</a:t>
            </a:r>
            <a:br/>
            <a:r>
              <a:t>- 전문 용어 검색</a:t>
            </a:r>
            <a:br/>
            <a:r>
              <a:t>- TF-IDF 기반</a:t>
            </a:r>
            <a:br/>
            <a:br/>
            <a:r>
              <a:t>정확한 키워드 검색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103120"/>
            <a:ext cx="2194560" cy="292608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38160" y="2194560"/>
            <a:ext cx="548640" cy="548640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88"/>
                </a:solidFill>
                <a:latin typeface="맑은 고딕"/>
              </a:defRPr>
            </a:pPr>
            <a:r>
              <a:t>제로 조인 쿼리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200400"/>
            <a:ext cx="2011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메타데이터 비정규화</a:t>
            </a:r>
            <a:br/>
            <a:br/>
            <a:r>
              <a:t>- project_name 내장</a:t>
            </a:r>
            <a:br/>
            <a:r>
              <a:t>- valid_date 내장</a:t>
            </a:r>
            <a:br/>
            <a:r>
              <a:t>- categories 내장</a:t>
            </a:r>
            <a:br/>
            <a:r>
              <a:t>- 단일 쿼리 완결</a:t>
            </a:r>
            <a:br/>
            <a:br/>
            <a:r>
              <a:t>PostgreSQL 조인 불필요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2103120"/>
            <a:ext cx="2194560" cy="292608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0" y="2194560"/>
            <a:ext cx="548640" cy="548640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88"/>
                </a:solidFill>
                <a:latin typeface="맑은 고딕"/>
              </a:defRPr>
            </a:pPr>
            <a:r>
              <a:t>실시간 검색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200400"/>
            <a:ext cx="2011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Near Real-Time</a:t>
            </a:r>
            <a:br/>
            <a:br/>
            <a:r>
              <a:t>- 1초 이내 인덱싱</a:t>
            </a:r>
            <a:br/>
            <a:r>
              <a:t>- refresh_interval 설정</a:t>
            </a:r>
            <a:br/>
            <a:r>
              <a:t>- 분산 검색</a:t>
            </a:r>
            <a:br/>
            <a:r>
              <a:t>- 자동 샤딩</a:t>
            </a:r>
            <a:br/>
            <a:br/>
            <a:r>
              <a:t>빠른 검색 응답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맑은 고딕"/>
              </a:defRPr>
            </a:pPr>
            <a:r>
              <a:t>인덱스 필드 구조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532120"/>
            <a:ext cx="1554480" cy="36576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dense_vector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577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1024차원 Dense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5532120"/>
            <a:ext cx="1554480" cy="36576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sparse_vector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59" y="5577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Sparse (lexical)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5532120"/>
            <a:ext cx="1554480" cy="36576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content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5577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청크 텍스트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5943600"/>
            <a:ext cx="1554480" cy="36576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metadata.project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989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프로젝트명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5943600"/>
            <a:ext cx="1554480" cy="36576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metadata.dates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59" y="5989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유효 기간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5943600"/>
            <a:ext cx="1554480" cy="36576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metadata.categories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5989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계층 분류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95548"/>
          </a:solidFill>
          <a:ln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Neo4j - Knowledge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EBE9"/>
                </a:solidFill>
                <a:latin typeface="맑은 고딕"/>
              </a:defRPr>
            </a:pPr>
            <a:r>
              <a:t>지식 그래프 기반 관계 탐색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11612880" cy="640080"/>
          </a:xfrm>
          <a:prstGeom prst="roundRect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Neo4j는 엔티티 간 관계를 그래프로 저장하여 숨겨진 연결을 발견하고 지식을 확장합니다</a:t>
            </a:r>
          </a:p>
        </p:txBody>
      </p:sp>
      <p:sp>
        <p:nvSpPr>
          <p:cNvPr id="6" name="Data 5"/>
          <p:cNvSpPr/>
          <p:nvPr/>
        </p:nvSpPr>
        <p:spPr>
          <a:xfrm>
            <a:off x="457200" y="2103120"/>
            <a:ext cx="1828800" cy="1097280"/>
          </a:xfrm>
          <a:prstGeom prst="flowChartInputOutput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Neo4j</a:t>
            </a:r>
            <a:br/>
            <a:r>
              <a:t>5.x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2103120"/>
            <a:ext cx="2194560" cy="292608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83279" y="2194560"/>
            <a:ext cx="548640" cy="548640"/>
          </a:xfrm>
          <a:prstGeom prst="ellipse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F51B5"/>
                </a:solidFill>
                <a:latin typeface="맑은 고딕"/>
              </a:defRPr>
            </a:pPr>
            <a:r>
              <a:t>관계 탐색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200400"/>
            <a:ext cx="2011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연결 기반 검색</a:t>
            </a:r>
            <a:br/>
            <a:br/>
            <a:r>
              <a:t>- 2-hop 확장 탐색</a:t>
            </a:r>
            <a:br/>
            <a:r>
              <a:t>- 경로 발견</a:t>
            </a:r>
            <a:br/>
            <a:r>
              <a:t>- 패턴 매칭</a:t>
            </a:r>
            <a:br/>
            <a:r>
              <a:t>- 관계 필터링</a:t>
            </a:r>
            <a:br/>
            <a:br/>
            <a:r>
              <a:t>숨겨진 연결 발견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103120"/>
            <a:ext cx="2194560" cy="292608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60720" y="2194560"/>
            <a:ext cx="548640" cy="548640"/>
          </a:xfrm>
          <a:prstGeom prst="ellipse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F51B5"/>
                </a:solidFill>
                <a:latin typeface="맑은 고딕"/>
              </a:defRPr>
            </a:pPr>
            <a:r>
              <a:t>커뮤니티 탐지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200400"/>
            <a:ext cx="2011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계층적 그룹화</a:t>
            </a:r>
            <a:br/>
            <a:br/>
            <a:r>
              <a:t>- Louvain 알고리즘</a:t>
            </a:r>
            <a:br/>
            <a:r>
              <a:t>- 주제별 클러스터</a:t>
            </a:r>
            <a:br/>
            <a:r>
              <a:t>- 자동 분류</a:t>
            </a:r>
            <a:br/>
            <a:r>
              <a:t>- 계층 구조 생성</a:t>
            </a:r>
            <a:br/>
            <a:br/>
            <a:r>
              <a:t>관련 문서 그룹화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103120"/>
            <a:ext cx="2194560" cy="292608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38160" y="2194560"/>
            <a:ext cx="548640" cy="548640"/>
          </a:xfrm>
          <a:prstGeom prst="ellipse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F51B5"/>
                </a:solidFill>
                <a:latin typeface="맑은 고딕"/>
              </a:defRPr>
            </a:pPr>
            <a:r>
              <a:t>Slim Graph 전략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200400"/>
            <a:ext cx="2011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메모리 최적화</a:t>
            </a:r>
            <a:br/>
            <a:br/>
            <a:r>
              <a:t>- 최소 속성만 저장</a:t>
            </a:r>
            <a:br/>
            <a:r>
              <a:t>- ID + 이름 + 타입</a:t>
            </a:r>
            <a:br/>
            <a:r>
              <a:t>- 본문은 ES 참조</a:t>
            </a:r>
            <a:br/>
            <a:r>
              <a:t>- 16GB RAM 운영</a:t>
            </a:r>
            <a:br/>
            <a:br/>
            <a:r>
              <a:t>효율적 메모리 사용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2103120"/>
            <a:ext cx="2194560" cy="292608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0" y="2194560"/>
            <a:ext cx="548640" cy="548640"/>
          </a:xfrm>
          <a:prstGeom prst="ellipse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F51B5"/>
                </a:solidFill>
                <a:latin typeface="맑은 고딕"/>
              </a:defRPr>
            </a:pPr>
            <a:r>
              <a:t>Cypher 쿼리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200400"/>
            <a:ext cx="2011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직관적 그래프 쿼리</a:t>
            </a:r>
            <a:br/>
            <a:br/>
            <a:r>
              <a:t>- 패턴 매칭 문법</a:t>
            </a:r>
            <a:br/>
            <a:r>
              <a:t>- 경로 표현</a:t>
            </a:r>
            <a:br/>
            <a:r>
              <a:t>- 집계 함수</a:t>
            </a:r>
            <a:br/>
            <a:r>
              <a:t>- FULLTEXT 검색</a:t>
            </a:r>
            <a:br/>
            <a:br/>
            <a:r>
              <a:t>복잡한 관계 쿼리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212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F51B5"/>
                </a:solidFill>
                <a:latin typeface="맑은 고딕"/>
              </a:defRPr>
            </a:pPr>
            <a:r>
              <a:t>노드 타입</a:t>
            </a:r>
          </a:p>
        </p:txBody>
      </p:sp>
      <p:sp>
        <p:nvSpPr>
          <p:cNvPr id="24" name="Oval 23"/>
          <p:cNvSpPr/>
          <p:nvPr/>
        </p:nvSpPr>
        <p:spPr>
          <a:xfrm>
            <a:off x="274320" y="5577840"/>
            <a:ext cx="1280160" cy="548640"/>
          </a:xfrm>
          <a:prstGeom prst="ellipse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Entity</a:t>
            </a:r>
          </a:p>
        </p:txBody>
      </p:sp>
      <p:sp>
        <p:nvSpPr>
          <p:cNvPr id="25" name="Oval 24"/>
          <p:cNvSpPr/>
          <p:nvPr/>
        </p:nvSpPr>
        <p:spPr>
          <a:xfrm>
            <a:off x="1737360" y="5577840"/>
            <a:ext cx="1280160" cy="548640"/>
          </a:xfrm>
          <a:prstGeom prst="ellipse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TextUnit</a:t>
            </a:r>
          </a:p>
        </p:txBody>
      </p:sp>
      <p:sp>
        <p:nvSpPr>
          <p:cNvPr id="26" name="Oval 25"/>
          <p:cNvSpPr/>
          <p:nvPr/>
        </p:nvSpPr>
        <p:spPr>
          <a:xfrm>
            <a:off x="3200400" y="5577840"/>
            <a:ext cx="1280160" cy="548640"/>
          </a:xfrm>
          <a:prstGeom prst="ellipse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Community</a:t>
            </a:r>
          </a:p>
        </p:txBody>
      </p:sp>
      <p:sp>
        <p:nvSpPr>
          <p:cNvPr id="27" name="Oval 26"/>
          <p:cNvSpPr/>
          <p:nvPr/>
        </p:nvSpPr>
        <p:spPr>
          <a:xfrm>
            <a:off x="4663440" y="5577840"/>
            <a:ext cx="1280160" cy="548640"/>
          </a:xfrm>
          <a:prstGeom prst="ellipse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Document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212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F51B5"/>
                </a:solidFill>
                <a:latin typeface="맑은 고딕"/>
              </a:defRPr>
            </a:pPr>
            <a:r>
              <a:t>관계 타입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217920" y="5577840"/>
            <a:ext cx="1280160" cy="548640"/>
          </a:xfrm>
          <a:prstGeom prst="rightArrow">
            <a:avLst/>
          </a:prstGeom>
          <a:solidFill>
            <a:srgbClr val="A1887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RELATED_TO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680960" y="5577840"/>
            <a:ext cx="1280160" cy="548640"/>
          </a:xfrm>
          <a:prstGeom prst="rightArrow">
            <a:avLst/>
          </a:prstGeom>
          <a:solidFill>
            <a:srgbClr val="A1887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MENTIONED_IN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144000" y="5577840"/>
            <a:ext cx="1280160" cy="548640"/>
          </a:xfrm>
          <a:prstGeom prst="rightArrow">
            <a:avLst/>
          </a:prstGeom>
          <a:solidFill>
            <a:srgbClr val="A1887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BELONGS_TO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0607040" y="5577840"/>
            <a:ext cx="1280160" cy="548640"/>
          </a:xfrm>
          <a:prstGeom prst="rightArrow">
            <a:avLst/>
          </a:prstGeom>
          <a:solidFill>
            <a:srgbClr val="A1887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PART_OF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95548"/>
          </a:solidFill>
          <a:ln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3-Store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EBE9"/>
                </a:solidFill>
                <a:latin typeface="맑은 고딕"/>
              </a:defRPr>
            </a:pPr>
            <a:r>
              <a:t>역할별 저장소 분리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95548"/>
                </a:solidFill>
                <a:latin typeface="맑은 고딕"/>
              </a:defRPr>
            </a:pPr>
            <a:r>
              <a:t>저장소별 역할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1645920" cy="457200"/>
          </a:xfrm>
          <a:prstGeom prst="rect">
            <a:avLst/>
          </a:prstGeom>
          <a:solidFill>
            <a:srgbClr val="795548"/>
          </a:solidFill>
          <a:ln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20240" y="1645920"/>
            <a:ext cx="2926080" cy="4572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PostgreSQL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645920"/>
            <a:ext cx="2926080" cy="45720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Elasticsearch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645920"/>
            <a:ext cx="2926080" cy="457200"/>
          </a:xfrm>
          <a:prstGeom prst="rect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Neo4j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03120"/>
            <a:ext cx="1645920" cy="502920"/>
          </a:xfrm>
          <a:prstGeom prst="rect">
            <a:avLst/>
          </a:prstGeom>
          <a:solidFill>
            <a:srgbClr val="A1887F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주요 역할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2103120"/>
            <a:ext cx="292608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마스터 데이터 (SSOT)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2103120"/>
            <a:ext cx="292608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벡터 검색 + 메타필터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103120"/>
            <a:ext cx="292608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관계 그래프 탐색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06039"/>
            <a:ext cx="1645920" cy="502920"/>
          </a:xfrm>
          <a:prstGeom prst="rect">
            <a:avLst/>
          </a:prstGeom>
          <a:solidFill>
            <a:srgbClr val="A1887F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데이터 유형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2606039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정형 데이터, FK 관계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606039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벡터, 비정규화 메타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606039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노드, 엣지, 관계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108960"/>
            <a:ext cx="1645920" cy="502920"/>
          </a:xfrm>
          <a:prstGeom prst="rect">
            <a:avLst/>
          </a:prstGeom>
          <a:solidFill>
            <a:srgbClr val="A1887F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쿼리 특성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3108960"/>
            <a:ext cx="292608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복잡한 조인, 트랜잭션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3108960"/>
            <a:ext cx="292608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kNN, BM25, 필터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108960"/>
            <a:ext cx="292608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패턴 매칭, 경로 탐색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611880"/>
            <a:ext cx="1645920" cy="502920"/>
          </a:xfrm>
          <a:prstGeom prst="rect">
            <a:avLst/>
          </a:prstGeom>
          <a:solidFill>
            <a:srgbClr val="A1887F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동기화 방향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3611880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→ ES, Neo4j 전파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3611880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← PG 수신 전용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3611880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← PG 수신 전용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114800"/>
            <a:ext cx="1645920" cy="502920"/>
          </a:xfrm>
          <a:prstGeom prst="rect">
            <a:avLst/>
          </a:prstGeom>
          <a:solidFill>
            <a:srgbClr val="A1887F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수정 권한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4114800"/>
            <a:ext cx="292608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쓰기/읽기 (Primary)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4114800"/>
            <a:ext cx="292608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읽기 전용 (검색용)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114800"/>
            <a:ext cx="292608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읽기 전용 (탐색용)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617720"/>
            <a:ext cx="1645920" cy="502920"/>
          </a:xfrm>
          <a:prstGeom prst="rect">
            <a:avLst/>
          </a:prstGeom>
          <a:solidFill>
            <a:srgbClr val="A1887F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메모리 할당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0240" y="4617720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1GB shared_buffers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4617720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4GB JVM heap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4617720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2GB JVM heap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95548"/>
                </a:solidFill>
                <a:latin typeface="맑은 고딕"/>
              </a:defRPr>
            </a:pPr>
            <a:r>
              <a:t>데이터 동기화 흐름</a:t>
            </a:r>
          </a:p>
        </p:txBody>
      </p:sp>
      <p:sp>
        <p:nvSpPr>
          <p:cNvPr id="35" name="Data 34"/>
          <p:cNvSpPr/>
          <p:nvPr/>
        </p:nvSpPr>
        <p:spPr>
          <a:xfrm>
            <a:off x="1828800" y="5669280"/>
            <a:ext cx="2286000" cy="914400"/>
          </a:xfrm>
          <a:prstGeom prst="flowChartInputOutpu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PostgreSQL</a:t>
            </a:r>
            <a:br/>
            <a:r>
              <a:t>(SSOT - 마스터)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4206240" y="5760720"/>
            <a:ext cx="731520" cy="365760"/>
          </a:xfrm>
          <a:prstGeom prst="rightArrow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4206240" y="6217920"/>
            <a:ext cx="731520" cy="365760"/>
          </a:xfrm>
          <a:prstGeom prst="rightArrow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ata 37"/>
          <p:cNvSpPr/>
          <p:nvPr/>
        </p:nvSpPr>
        <p:spPr>
          <a:xfrm>
            <a:off x="5029200" y="5486400"/>
            <a:ext cx="2286000" cy="640080"/>
          </a:xfrm>
          <a:prstGeom prst="flowChartInputOutpu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Elasticsearch</a:t>
            </a:r>
          </a:p>
        </p:txBody>
      </p:sp>
      <p:sp>
        <p:nvSpPr>
          <p:cNvPr id="39" name="Data 38"/>
          <p:cNvSpPr/>
          <p:nvPr/>
        </p:nvSpPr>
        <p:spPr>
          <a:xfrm>
            <a:off x="5029200" y="6217920"/>
            <a:ext cx="2286000" cy="640080"/>
          </a:xfrm>
          <a:prstGeom prst="flowChartInputOutput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Neo4j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5577840"/>
            <a:ext cx="4114800" cy="100584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0" y="562356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t>핵심 원칙:</a:t>
            </a:r>
            <a:br/>
            <a:r>
              <a:t>PostgreSQL 실패 → 전체 롤백</a:t>
            </a:r>
            <a:br/>
            <a:r>
              <a:t>ES/Neo4j 실패 → 재시도 큐 등록</a:t>
            </a:r>
            <a:br/>
            <a:br/>
            <a:r>
              <a:t>asyncio.gather로 동시 저장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95548"/>
          </a:solidFill>
          <a:ln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Cost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EBE9"/>
                </a:solidFill>
                <a:latin typeface="맑은 고딕"/>
              </a:defRPr>
            </a:pPr>
            <a:r>
              <a:t>비용 효율성 분석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11612880" cy="914400"/>
          </a:xfrm>
          <a:prstGeom prst="round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DeepSeek V3.2 활용으로 95% 비용 절감: $45.50 → $2.26 / 1,000문서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95548"/>
                </a:solidFill>
                <a:latin typeface="맑은 고딕"/>
              </a:defRPr>
            </a:pPr>
            <a:r>
              <a:t>LLM 비용 비교 (1,000문서 기준)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맑은 고딕"/>
              </a:defRPr>
            </a:pPr>
            <a:r>
              <a:t>Claude Sonnet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743200"/>
            <a:ext cx="6656832" cy="548640"/>
          </a:xfrm>
          <a:prstGeom prst="round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$45.50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맑은 고딕"/>
              </a:defRPr>
            </a:pPr>
            <a:r>
              <a:t>GPT-4o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3657600"/>
            <a:ext cx="2121408" cy="548640"/>
          </a:xfrm>
          <a:prstGeom prst="round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$14.50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맑은 고딕"/>
              </a:defRPr>
            </a:pPr>
            <a:r>
              <a:t>DeepSeek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4572000"/>
            <a:ext cx="330647" cy="548640"/>
          </a:xfrm>
          <a:prstGeom prst="round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$2.26</a:t>
            </a:r>
          </a:p>
        </p:txBody>
      </p:sp>
      <p:sp>
        <p:nvSpPr>
          <p:cNvPr id="13" name="5-Point Star 12"/>
          <p:cNvSpPr/>
          <p:nvPr/>
        </p:nvSpPr>
        <p:spPr>
          <a:xfrm>
            <a:off x="2799527" y="4663440"/>
            <a:ext cx="365760" cy="365760"/>
          </a:xfrm>
          <a:prstGeom prst="star5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56727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800"/>
                </a:solidFill>
                <a:latin typeface="맑은 고딕"/>
              </a:defRPr>
            </a:pPr>
            <a:r>
              <a:t>95% 절감!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5486400"/>
            <a:ext cx="5486400" cy="109728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5778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월간 예상 비용</a:t>
            </a:r>
            <a:br/>
            <a:br/>
            <a:r>
              <a:t>문서 처리: $2.26 + 검색 (1,000회): $0.50</a:t>
            </a:r>
            <a:br/>
            <a:r>
              <a:t>= 총 $2.76/월 | 연간 $33.12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95548"/>
                </a:solidFill>
                <a:latin typeface="맑은 고딕"/>
              </a:defRPr>
            </a:pPr>
            <a:r>
              <a:t>DeepSeek 모델별 요금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743200"/>
            <a:ext cx="1645920" cy="365760"/>
          </a:xfrm>
          <a:prstGeom prst="rect">
            <a:avLst/>
          </a:prstGeom>
          <a:solidFill>
            <a:srgbClr val="795548"/>
          </a:solidFill>
          <a:ln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모델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2743200"/>
            <a:ext cx="1097280" cy="365760"/>
          </a:xfrm>
          <a:prstGeom prst="rect">
            <a:avLst/>
          </a:prstGeom>
          <a:solidFill>
            <a:srgbClr val="795548"/>
          </a:solidFill>
          <a:ln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입력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19" y="2743200"/>
            <a:ext cx="1097280" cy="365760"/>
          </a:xfrm>
          <a:prstGeom prst="rect">
            <a:avLst/>
          </a:prstGeom>
          <a:solidFill>
            <a:srgbClr val="795548"/>
          </a:solidFill>
          <a:ln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출력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399" y="2743200"/>
            <a:ext cx="2103120" cy="365760"/>
          </a:xfrm>
          <a:prstGeom prst="rect">
            <a:avLst/>
          </a:prstGeom>
          <a:solidFill>
            <a:srgbClr val="795548"/>
          </a:solidFill>
          <a:ln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용도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108960"/>
            <a:ext cx="164592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deepseek-chat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3108960"/>
            <a:ext cx="109728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$0.28/1M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19" y="3108960"/>
            <a:ext cx="109728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$1.10/1M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399" y="3108960"/>
            <a:ext cx="210312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엔티티 추출, 답변 합성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52044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deepseek-reasoner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352044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$2.19/1M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19" y="352044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$8.98/1M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399" y="3520440"/>
            <a:ext cx="2103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12121"/>
                </a:solidFill>
                <a:latin typeface="맑은 고딕"/>
              </a:defRPr>
            </a:pPr>
            <a:r>
              <a:t>복잡한 추론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95548"/>
                </a:solidFill>
                <a:latin typeface="맑은 고딕"/>
              </a:defRPr>
            </a:pPr>
            <a:r>
              <a:t>비용 최적화 전략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480560"/>
            <a:ext cx="2743200" cy="73152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800"/>
                </a:solidFill>
                <a:latin typeface="맑은 고딕"/>
              </a:defRPr>
            </a:pPr>
            <a:r>
              <a:t>캐시 히트 활용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4800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맑은 고딕"/>
              </a:defRPr>
            </a:pPr>
            <a:r>
              <a:t>시스템 프롬프트 고정으로 90% 캐시 히트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4480560"/>
            <a:ext cx="2743200" cy="73152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800"/>
                </a:solidFill>
                <a:latin typeface="맑은 고딕"/>
              </a:defRPr>
            </a:pPr>
            <a:r>
              <a:t>모델 선택 최적화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800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맑은 고딕"/>
              </a:defRPr>
            </a:pPr>
            <a:r>
              <a:t>단순 작업은 Chat, 복잡한 추론만 Reasoner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5303520"/>
            <a:ext cx="2743200" cy="73152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59" y="5349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800"/>
                </a:solidFill>
                <a:latin typeface="맑은 고딕"/>
              </a:defRPr>
            </a:pPr>
            <a:r>
              <a:t>배치 처리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59" y="5623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맑은 고딕"/>
              </a:defRPr>
            </a:pPr>
            <a:r>
              <a:t>대량 문서는 배치로 처리하여 오버헤드 감소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5303520"/>
            <a:ext cx="2743200" cy="73152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5349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800"/>
                </a:solidFill>
                <a:latin typeface="맑은 고딕"/>
              </a:defRPr>
            </a:pPr>
            <a:r>
              <a:t>API 호출 최소화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5623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12121"/>
                </a:solidFill>
                <a:latin typeface="맑은 고딕"/>
              </a:defRPr>
            </a:pPr>
            <a:r>
              <a:t>불필요한 재호출 방지, 결과 재사용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E2723"/>
          </a:solidFill>
          <a:ln>
            <a:solidFill>
              <a:srgbClr val="3E2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5029200" cy="4114800"/>
          </a:xfrm>
          <a:prstGeom prst="ellipse">
            <a:avLst/>
          </a:prstGeom>
          <a:solidFill>
            <a:srgbClr val="795548"/>
          </a:solidFill>
          <a:ln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914400"/>
            <a:ext cx="3657600" cy="2743200"/>
          </a:xfrm>
          <a:prstGeom prst="ellipse">
            <a:avLst/>
          </a:prstGeom>
          <a:solidFill>
            <a:srgbClr val="A1887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FEBE9"/>
                </a:solidFill>
                <a:latin typeface="맑은 고딕"/>
              </a:defRPr>
            </a:pPr>
            <a:r>
              <a:t>Questions &amp; Answers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657600"/>
            <a:ext cx="1828800" cy="457200"/>
          </a:xfrm>
          <a:prstGeom prst="round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아키텍처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703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EBE9"/>
                </a:solidFill>
                <a:latin typeface="맑은 고딕"/>
              </a:defRPr>
            </a:pPr>
            <a:r>
              <a:t>SpringBoot + AI Service 분리 | VIP 3-Stage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206240"/>
            <a:ext cx="1828800" cy="457200"/>
          </a:xfrm>
          <a:prstGeom prst="round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저장소 전략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25195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EBE9"/>
                </a:solidFill>
                <a:latin typeface="맑은 고딕"/>
              </a:defRPr>
            </a:pPr>
            <a:r>
              <a:t>PG(SSOT) + ES(Vector) + Neo4j(Graph) 역할 분리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754880"/>
            <a:ext cx="1828800" cy="457200"/>
          </a:xfrm>
          <a:prstGeom prst="round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비용 효율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800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EBE9"/>
                </a:solidFill>
                <a:latin typeface="맑은 고딕"/>
              </a:defRPr>
            </a:pPr>
            <a:r>
              <a:t>DeepSeek V3.2 → 95% 절감 ($45.50 → $2.26)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5303520"/>
            <a:ext cx="1828800" cy="457200"/>
          </a:xfrm>
          <a:prstGeom prst="round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검색 품질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5349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EBE9"/>
                </a:solidFill>
                <a:latin typeface="맑은 고딕"/>
              </a:defRPr>
            </a:pPr>
            <a:r>
              <a:t>Hybrid Search = Vector + Graph + RRF 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1887F"/>
                </a:solidFill>
                <a:latin typeface="맑은 고딕"/>
              </a:defRPr>
            </a:pPr>
            <a:r>
              <a:t>Hybrid RAG Knowledge Platform v2.3 | 2026-01-14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