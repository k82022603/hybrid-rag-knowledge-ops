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4114800"/>
            <a:ext cx="4572000" cy="3657600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UI Storyboard</a:t>
            </a:r>
            <a:br/>
            <a:r>
              <a:t>상세 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EFEBE9"/>
                </a:solidFill>
                <a:latin typeface="맑은 고딕"/>
              </a:defRPr>
            </a:pPr>
            <a:r>
              <a:t>Knowledge Hub | 사내 지식 검색 시스템 UI/UX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1887F"/>
                </a:solidFill>
                <a:latin typeface="맑은 고딕"/>
              </a:defRPr>
            </a:pPr>
            <a:r>
              <a:t>2026-01-15 | Knowledge Hub UI Design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1. 로그인 화면 스토리보드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4754880" cy="5029200"/>
          </a:xfrm>
          <a:prstGeom prst="rect">
            <a:avLst/>
          </a:prstGeom>
          <a:solidFill>
            <a:srgbClr val="EFEBE9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45920" y="1645920"/>
            <a:ext cx="2194560" cy="914400"/>
          </a:xfrm>
          <a:prstGeom prst="round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📚 Knowledge 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212121"/>
                </a:solidFill>
                <a:latin typeface="맑은 고딕"/>
              </a:defRPr>
            </a:pPr>
            <a:r>
              <a:t>사내 지식 검색 시스템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474720"/>
            <a:ext cx="2743200" cy="64008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611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🔐 SSO 로그인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1887F"/>
                </a:solidFill>
                <a:latin typeface="맑은 고딕"/>
              </a:defRPr>
            </a:pPr>
            <a:r>
              <a:t>안전한 OAuth 2.0 + PKCE 인증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029200"/>
            <a:ext cx="4754880" cy="457200"/>
          </a:xfrm>
          <a:prstGeom prst="rect">
            <a:avLst/>
          </a:prstGeom>
          <a:solidFill>
            <a:srgbClr val="A1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1206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© 2026 Company | 도움말 | 개인정보처리방침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12121"/>
                </a:solidFill>
                <a:latin typeface="맑은 고딕"/>
              </a:defRPr>
            </a:pPr>
            <a:r>
              <a:t>상태: 기본 | 로딩중 ⏳ | 에러 ⚠️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097280"/>
            <a:ext cx="3474720" cy="219456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59" y="118872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📋 스토리보드 상세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1508760"/>
            <a:ext cx="3291839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화면 목적: 사용자 인증 진입점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인증 방식: OAuth 2.0 + PKCE (SSO)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주요 컴포넌트: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로고 및 서비스명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SSO 로그인 버튼 (CTA)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푸터 링크 (도움말, 정책)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상태별 화면: 기본/로딩/에러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에러 시 '다시 시도' 버튼 표시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3474720"/>
            <a:ext cx="34747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356616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⚠️ 개발자 주의사항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3886200"/>
            <a:ext cx="3291839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🔐 보안: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PKCE code_verifier 클라이언트만 저장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Redirect URI 화이트리스트 검증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state 파라미터로 CSRF 방어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🎨 UI/UX: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로딩 중 버튼 비활성화 + 스피너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에러 메시지 사용자 친화적 표현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키보드 Enter로 로그인 가능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📱 반응형: 모바일 시 전체화면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2. 대시보드 스토리보드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754880" cy="457200"/>
          </a:xfrm>
          <a:prstGeom prst="rect">
            <a:avLst/>
          </a:prstGeom>
          <a:solidFill>
            <a:srgbClr val="3F51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맑은 고딕"/>
              </a:defRPr>
            </a:pPr>
            <a:r>
              <a:t>📚 LOGO    🔍 검색...               🔔 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914400" cy="4572000"/>
          </a:xfrm>
          <a:prstGeom prst="rect">
            <a:avLst/>
          </a:prstGeom>
          <a:solidFill>
            <a:srgbClr val="374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822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800">
                <a:solidFill>
                  <a:srgbClr val="FFFFFF"/>
                </a:solidFill>
                <a:latin typeface="맑은 고딕"/>
              </a:defRPr>
            </a:pPr>
            <a:r>
              <a:t>📊 대시보드</a:t>
            </a:r>
          </a:p>
          <a:p>
            <a:pPr>
              <a:spcAft>
                <a:spcPts val="800"/>
              </a:spcAft>
              <a:defRPr sz="800">
                <a:solidFill>
                  <a:srgbClr val="FFFFFF"/>
                </a:solidFill>
                <a:latin typeface="맑은 고딕"/>
              </a:defRPr>
            </a:pPr>
            <a:r>
              <a:t>🔍 검색</a:t>
            </a:r>
          </a:p>
          <a:p>
            <a:pPr>
              <a:spcAft>
                <a:spcPts val="800"/>
              </a:spcAft>
              <a:defRPr sz="800">
                <a:solidFill>
                  <a:srgbClr val="FFFFFF"/>
                </a:solidFill>
                <a:latin typeface="맑은 고딕"/>
              </a:defRPr>
            </a:pPr>
            <a:r>
              <a:t>📚 지식관리</a:t>
            </a:r>
          </a:p>
          <a:p>
            <a:pPr>
              <a:spcAft>
                <a:spcPts val="800"/>
              </a:spcAft>
              <a:defRPr sz="800">
                <a:solidFill>
                  <a:srgbClr val="FFFFFF"/>
                </a:solidFill>
                <a:latin typeface="맑은 고딕"/>
              </a:defRPr>
            </a:pPr>
            <a:r>
              <a:t>⭐ 북마크</a:t>
            </a:r>
          </a:p>
          <a:p>
            <a:pPr>
              <a:spcAft>
                <a:spcPts val="800"/>
              </a:spcAft>
              <a:defRPr sz="800">
                <a:solidFill>
                  <a:srgbClr val="FFFFFF"/>
                </a:solidFill>
                <a:latin typeface="맑은 고딕"/>
              </a:defRPr>
            </a:pPr>
            <a:r>
              <a:t>👤 프로필</a:t>
            </a:r>
          </a:p>
          <a:p>
            <a:pPr>
              <a:spcAft>
                <a:spcPts val="800"/>
              </a:spcAft>
              <a:defRPr sz="800">
                <a:solidFill>
                  <a:srgbClr val="FFFFFF"/>
                </a:solidFill>
                <a:latin typeface="맑은 고딕"/>
              </a:defRPr>
            </a:pPr>
            <a:r>
              <a:t>⚙️ 설정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1463040"/>
            <a:ext cx="3840480" cy="4572000"/>
          </a:xfrm>
          <a:prstGeom prst="rect">
            <a:avLst/>
          </a:prstGeom>
          <a:solidFill>
            <a:srgbClr val="FAFAFA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71600" y="1645920"/>
            <a:ext cx="822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3736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📚</a:t>
            </a:r>
            <a:br/>
            <a:r>
              <a:t>1,234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1645920"/>
            <a:ext cx="822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173736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📝</a:t>
            </a:r>
            <a:br/>
            <a:r>
              <a:t>12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1645920"/>
            <a:ext cx="822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73736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📖</a:t>
            </a:r>
            <a:br/>
            <a:r>
              <a:t>45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0" y="1645920"/>
            <a:ext cx="82296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737360"/>
            <a:ext cx="822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212121"/>
                </a:solidFill>
                <a:latin typeface="맑은 고딕"/>
              </a:defRPr>
            </a:pPr>
            <a:r>
              <a:t>⭐</a:t>
            </a:r>
            <a:br/>
            <a:r>
              <a:t>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2468880"/>
            <a:ext cx="1783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2560320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2121"/>
                </a:solidFill>
                <a:latin typeface="맑은 고딕"/>
              </a:defRPr>
            </a:pPr>
            <a:r>
              <a:t>🔥 인기 지식 TOP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2468880"/>
            <a:ext cx="1783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2560320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2121"/>
                </a:solidFill>
                <a:latin typeface="맑은 고딕"/>
              </a:defRPr>
            </a:pPr>
            <a:r>
              <a:t>📝 최신 지식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4206240"/>
            <a:ext cx="1783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297680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2121"/>
                </a:solidFill>
                <a:latin typeface="맑은 고딕"/>
              </a:defRPr>
            </a:pPr>
            <a:r>
              <a:t>💡 AI 추천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46120" y="4206240"/>
            <a:ext cx="17830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4297680"/>
            <a:ext cx="1691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12121"/>
                </a:solidFill>
                <a:latin typeface="맑은 고딕"/>
              </a:defRPr>
            </a:pPr>
            <a:r>
              <a:t>🔎 검색 트렌드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1005840"/>
            <a:ext cx="3474720" cy="256032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59" y="109728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📋 스토리보드 상세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59" y="1417320"/>
            <a:ext cx="329183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레이아웃: Header(64px) + Sidebar(240px) + Content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통계 카드 4종: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전체 지식 수 (증감률 표시)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오늘 등록 지식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내 지식 수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북마크 수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위젯 4종: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인기 지식 TOP 5 (조회수 기준)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최신 지식 목록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AI 추천 (관심사 기반)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검색 트렌드 (워드 클라우드)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3749039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4959" y="3840479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⚠️ 개발자 주의사항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4959" y="4160520"/>
            <a:ext cx="32918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📡 API: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GET /api/v1/dashboard/stats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통계 데이터 5분 캐싱 권장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인기 지식 실시간 조회수 반영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🎨 UI/UX: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Skeleton 로딩 UI 적용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통계 카드 클릭 → 상세 목록 이동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위젯 더보기 → 해당 페이지 이동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📱 반응형: Tablet 2열, Mobile 1열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3. 검색 - 채팅 모드 스토리보드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754880" cy="5029200"/>
          </a:xfrm>
          <a:prstGeom prst="rect">
            <a:avLst/>
          </a:prstGeom>
          <a:solidFill>
            <a:srgbClr val="FAFAFA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371600" cy="365760"/>
          </a:xfrm>
          <a:prstGeom prst="round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💬 채팅 모드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0" y="1188720"/>
            <a:ext cx="1371600" cy="365760"/>
          </a:xfrm>
          <a:prstGeom prst="roundRect">
            <a:avLst/>
          </a:prstGeom>
          <a:solidFill>
            <a:srgbClr val="EFEBE9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2344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🔍 키워드 검색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43891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1920240"/>
            <a:ext cx="2468880" cy="45720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0" y="201168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맑은 고딕"/>
              </a:defRPr>
            </a:pPr>
            <a:r>
              <a:t>👤 React 설계 방법 알려주세요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60320"/>
            <a:ext cx="3200400" cy="1828800"/>
          </a:xfrm>
          <a:prstGeom prst="roundRect">
            <a:avLst/>
          </a:prstGeom>
          <a:solidFill>
            <a:srgbClr val="EFEBE9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5176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12121"/>
                </a:solidFill>
                <a:latin typeface="맑은 고딕"/>
              </a:defRPr>
            </a:pPr>
            <a:r>
              <a:t>🤖 React 컴포넌트 설계 가이드</a:t>
            </a:r>
            <a:br/>
            <a:br/>
            <a:r>
              <a:t>• Presentational Components</a:t>
            </a:r>
            <a:br/>
            <a:r>
              <a:t>• Container Components</a:t>
            </a:r>
            <a:br/>
            <a:br/>
            <a:r>
              <a:t>📚 참조: React 설계 가이드</a:t>
            </a:r>
            <a:br/>
            <a:r>
              <a:t>    관련도: 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2743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1887F"/>
                </a:solidFill>
                <a:latin typeface="맑은 고딕"/>
              </a:defRPr>
            </a:pPr>
            <a:r>
              <a:t>👍 👎  📋 복사  🔗 공유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486400"/>
            <a:ext cx="43891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5778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A1887F"/>
                </a:solidFill>
                <a:latin typeface="맑은 고딕"/>
              </a:defRPr>
            </a:pPr>
            <a:r>
              <a:t>💬 질문을 입력하세요...                    📎 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1005840"/>
            <a:ext cx="3474720" cy="2377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59" y="109728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📋 스토리보드 상세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1417320"/>
            <a:ext cx="32918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검색 모드: 채팅 모드 (RAG 기반)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사용 케이스: 복잡한 질문, 맥락 이해 필요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메시지 구성: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사용자 메시지 (우측 정렬, 파란색)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AI 응답 (좌측 정렬, 마크다운 지원)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참조 문서 카드 (클릭 시 상세 이동)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피드백: 👍👎 버튼으로 답변 품질 평가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하단: 새 대화, 대화 내역 버튼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356616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59" y="365760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⚠️ 개발자 주의사항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59" y="3977639"/>
            <a:ext cx="329183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🤖 RAG 연동: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POST /api/v1/chat/message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스트리밍 응답 처리 (SSE)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참조 문서 관련도 점수 표시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🎨 UI/UX: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타이핑 인디케이터 애니메이션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마크다운 렌더링 (코드 하이라이트)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응답 생성 중 입력 비활성화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💾 대화 내역 localStorage 저장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📱 모바일: 전체화면 채팅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4. 검색 - 키워드 검색 스토리보드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754880" cy="5029200"/>
          </a:xfrm>
          <a:prstGeom prst="rect">
            <a:avLst/>
          </a:prstGeom>
          <a:solidFill>
            <a:srgbClr val="FAFAFA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4389120" cy="411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🔍 React                                    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4389120" cy="365760"/>
          </a:xfrm>
          <a:prstGeom prst="round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📁 카테고리 ▼  │  📅 기간 ▼  │  🏷️ 태그 ▼  │  ⚙️ 더보기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t>"React" 검색 결과 (총 156건)             정렬: 관련도순 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📄 React 컴포넌트 설계 가이드                    ⭐ 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3464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1887F"/>
                </a:solidFill>
                <a:latin typeface="맑은 고딕"/>
              </a:defRPr>
            </a:pPr>
            <a:r>
              <a:t>검색어가 포함된 본문 미리보기...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089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1887F"/>
                </a:solidFill>
                <a:latin typeface="맑은 고딕"/>
              </a:defRPr>
            </a:pPr>
            <a:r>
              <a:t>📁 프론트엔드 │ 👤 김개발 │ 📅 2026-01-10</a:t>
            </a:r>
            <a:br/>
            <a:r>
              <a:t>🏷️ React  컴포넌트    👁 234  💬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749039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📄 React Hooks 완벽 가이드                    ⭐ 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233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1887F"/>
                </a:solidFill>
                <a:latin typeface="맑은 고딕"/>
              </a:defRPr>
            </a:pPr>
            <a:r>
              <a:t>검색어가 포함된 본문 미리보기...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1887F"/>
                </a:solidFill>
                <a:latin typeface="맑은 고딕"/>
              </a:defRPr>
            </a:pPr>
            <a:r>
              <a:t>📁 프론트엔드 │ 👤 김개발 │ 📅 2026-01-10</a:t>
            </a:r>
            <a:br/>
            <a:r>
              <a:t>🏷️ React  컴포넌트    👁 234  💬 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846320"/>
            <a:ext cx="4389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4114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12121"/>
                </a:solidFill>
                <a:latin typeface="맑은 고딕"/>
              </a:defRPr>
            </a:pPr>
            <a:r>
              <a:t>📄 React + TypeScript 설정                    ⭐ 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120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1887F"/>
                </a:solidFill>
                <a:latin typeface="맑은 고딕"/>
              </a:defRPr>
            </a:pPr>
            <a:r>
              <a:t>검색어가 포함된 본문 미리보기...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486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A1887F"/>
                </a:solidFill>
                <a:latin typeface="맑은 고딕"/>
              </a:defRPr>
            </a:pPr>
            <a:r>
              <a:t>📁 프론트엔드 │ 👤 김개발 │ 📅 2026-01-10</a:t>
            </a:r>
            <a:br/>
            <a:r>
              <a:t>🏷️ React  컴포넌트    👁 234  💬 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852160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95548"/>
                </a:solidFill>
                <a:latin typeface="맑은 고딕"/>
              </a:defRPr>
            </a:pPr>
            <a:r>
              <a:t>&lt; 1  2  3  4  5 ... 16 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1005840"/>
            <a:ext cx="3474720" cy="237744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94959" y="109728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📋 스토리보드 상세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59" y="1417320"/>
            <a:ext cx="329183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검색 모드: 키워드 검색 (전통적 방식)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필터 옵션: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카테고리 (프론트엔드, 백엔드...)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기간 (전체, 7일, 30일, 직접입력)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태그 (다중 선택 가능)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고급 필터 (문서유형, 작성자, 조회수)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정렬: 관련도순, 최신순, 조회수순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결과 카드: 제목, 요약, 메타정보, 태그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검색어 하이라이트 처리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3566160"/>
            <a:ext cx="347472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4959" y="365760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⚠️ 개발자 주의사항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59" y="3977639"/>
            <a:ext cx="329183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🔍 검색 기능: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GET /api/v1/search?q=&amp;filters=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Elasticsearch Hybrid Search 연동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자동완성: 최근검색 + 인기검색어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검색어 디바운싱 (300ms)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🎨 UI/UX: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결과 없음 시 추천 키워드 표시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Skeleton 로딩 카드 표시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무한 스크롤 또는 페이지네이션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📱 모바일: 필터 모달 처리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5. 지식 관리 스토리보드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754880" cy="5029200"/>
          </a:xfrm>
          <a:prstGeom prst="rect">
            <a:avLst/>
          </a:prstGeom>
          <a:solidFill>
            <a:srgbClr val="FAFAFA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480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  <a:latin typeface="맑은 고딕"/>
              </a:defRPr>
            </a:pPr>
            <a:r>
              <a:t>전체(1,234) │ 내지식(45) │ 북마크(23) │ 임시(3)    ➕새 지식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4480560" cy="320040"/>
          </a:xfrm>
          <a:prstGeom prst="roundRect">
            <a:avLst/>
          </a:prstGeom>
          <a:solidFill>
            <a:srgbClr val="EFEB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  <a:latin typeface="맑은 고딕"/>
              </a:defRPr>
            </a:pPr>
            <a:r>
              <a:t>🔍 검색...     │  📁 카테고리 ▼  │  📅 기간 ▼  │  정렬 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44805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12121"/>
                </a:solidFill>
                <a:latin typeface="맑은 고딕"/>
              </a:defRPr>
            </a:pPr>
            <a:r>
              <a:t>☐ 📄 React 컴포넌트 설계 가이드  │  김개발  │  01-10</a:t>
            </a:r>
            <a:br/>
            <a:r>
              <a:t>    요약 텍스트...  👁 234  💬 12        ⭐ ⋮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40"/>
            <a:ext cx="44805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12121"/>
                </a:solidFill>
                <a:latin typeface="맑은 고딕"/>
              </a:defRPr>
            </a:pPr>
            <a:r>
              <a:t>☐ 📄 Spring Boot 가이드  │  이스프링  │  01-09</a:t>
            </a:r>
            <a:br/>
            <a:r>
              <a:t>    요약 텍스트...  👁 234  💬 12        ⭐ 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44805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747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12121"/>
                </a:solidFill>
                <a:latin typeface="맑은 고딕"/>
              </a:defRPr>
            </a:pPr>
            <a:r>
              <a:t>☐ 📄 코드 리뷰 체크리스트  │  박리뷰  │  01-08</a:t>
            </a:r>
            <a:br/>
            <a:r>
              <a:t>    요약 텍스트...  👁 234  💬 12        ⭐ 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60520"/>
            <a:ext cx="4480560" cy="68580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25195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12121"/>
                </a:solidFill>
                <a:latin typeface="맑은 고딕"/>
              </a:defRPr>
            </a:pPr>
            <a:r>
              <a:t>☐ 📄 배포 프로세스 안내  │  최배포  │  01-07</a:t>
            </a:r>
            <a:br/>
            <a:r>
              <a:t>    요약 텍스트...  👁 234  💬 12        ⭐ 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4480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12121"/>
                </a:solidFill>
                <a:latin typeface="맑은 고딕"/>
              </a:defRPr>
            </a:pPr>
            <a:r>
              <a:t>☐ 전체선택    선택: 0개    [🗑️ 삭제]          &lt; 1 2 3 ... 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795548"/>
                </a:solidFill>
                <a:latin typeface="맑은 고딕"/>
              </a:defRPr>
            </a:pPr>
            <a:r>
              <a:t>📝 에디터 주요 기능: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6235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1887F"/>
                </a:solidFill>
                <a:latin typeface="맑은 고딕"/>
              </a:defRPr>
            </a:pPr>
            <a:r>
              <a:t>마크다운 WYSIWYG │ 실시간 미리보기 │ 파일 드래그 업로드 │ 자동 임시저장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1005840"/>
            <a:ext cx="3474720" cy="228600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109728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📋 스토리보드 상세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1417320"/>
            <a:ext cx="3291839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탭: 전체, 내 지식, 북마크, 임시저장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목록 기능: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체크박스 다중 선택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카테고리/기간 필터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정렬 (최신순, 조회순)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더보기 메뉴: 수정, 복사, 공유, 삭제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에디터: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마크다운 WYSIWYG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실시간 미리보기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코드 하이라이팅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3474720"/>
            <a:ext cx="3474720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59" y="356616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⚠️ 개발자 주의사항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3886200"/>
            <a:ext cx="3291839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📡 API: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GET /api/v1/knowledge (목록)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POST /api/v1/knowledge (생성)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PUT /api/v1/knowledge/:id (수정)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DELETE /api/v1/knowledge/:id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📝 에디터: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Tiptap 또는 Toast UI Editor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이미지 S3 업로드 연동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XSS 방지: sanitize-html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🔐 권한: 본인 지식만 수정/삭제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6. 프로필 &amp; 관리자 스토리보드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2860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95548"/>
                </a:solidFill>
                <a:latin typeface="맑은 고딕"/>
              </a:defRPr>
            </a:pPr>
            <a:r>
              <a:t>👤 프로필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103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12121"/>
                </a:solidFill>
                <a:latin typeface="맑은 고딕"/>
              </a:defRPr>
            </a:pPr>
            <a:r>
              <a:t>┌───┐</a:t>
            </a:r>
            <a:br/>
            <a:r>
              <a:t>│ 👤 │  김개발</a:t>
            </a:r>
            <a:br/>
            <a:r>
              <a:t>└───┘  Frontend Dev</a:t>
            </a:r>
            <a:br/>
            <a:r>
              <a:t>       개발1팀</a:t>
            </a:r>
            <a:br/>
            <a:br/>
            <a:r>
              <a:t>📊 활동 통계</a:t>
            </a:r>
            <a:br/>
            <a:r>
              <a:t>📝 45  👁 8,234</a:t>
            </a:r>
            <a:br/>
            <a:r>
              <a:t>💬 156  ⭐ 234</a:t>
            </a:r>
            <a:br/>
            <a:br/>
            <a:r>
              <a:t>[✏️ 프로필 수정]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749039"/>
            <a:ext cx="2286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95548"/>
                </a:solidFill>
                <a:latin typeface="맑은 고딕"/>
              </a:defRPr>
            </a:pPr>
            <a:r>
              <a:t>⚙️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2103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212121"/>
                </a:solidFill>
                <a:latin typeface="맑은 고딕"/>
              </a:defRPr>
            </a:pPr>
            <a:r>
              <a:t>🔔 알림 설정</a:t>
            </a:r>
            <a:br/>
            <a:r>
              <a:t>  ☑️ 이메일 알림</a:t>
            </a:r>
            <a:br/>
            <a:r>
              <a:t>  ☑️ 푸시 알림</a:t>
            </a:r>
            <a:br/>
            <a:br/>
            <a:r>
              <a:t>🎨 화면 설정</a:t>
            </a:r>
            <a:br/>
            <a:r>
              <a:t>  ○ 라이트  ● 다크</a:t>
            </a:r>
            <a:br/>
            <a:br/>
            <a:r>
              <a:t>🔒 보안 설정</a:t>
            </a:r>
            <a:br/>
            <a:r>
              <a:t>  ☑️ 2FA 활성화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005840"/>
            <a:ext cx="2286000" cy="5029200"/>
          </a:xfrm>
          <a:prstGeom prst="round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9800"/>
                </a:solidFill>
                <a:latin typeface="맑은 고딕"/>
              </a:defRPr>
            </a:pPr>
            <a:r>
              <a:t>⚙️ 관리자 (ADMIN)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371600"/>
            <a:ext cx="2103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>
                <a:solidFill>
                  <a:srgbClr val="FFFFFF"/>
                </a:solidFill>
                <a:latin typeface="맑은 고딕"/>
              </a:defRPr>
            </a:pPr>
            <a:r>
              <a:t>📊 시스템 현황</a:t>
            </a:r>
            <a:br/>
            <a:r>
              <a:t>┌────┐ ┌────┐</a:t>
            </a:r>
            <a:br/>
            <a:r>
              <a:t>│👥256│ │📚1234│</a:t>
            </a:r>
            <a:br/>
            <a:r>
              <a:t>└────┘ └────┘</a:t>
            </a:r>
            <a:br/>
            <a:r>
              <a:t>┌────┐ ┌────┐</a:t>
            </a:r>
            <a:br/>
            <a:r>
              <a:t>│🔍567│ │💬 89│</a:t>
            </a:r>
            <a:br/>
            <a:r>
              <a:t>└────┘ └────┘</a:t>
            </a:r>
            <a:br/>
            <a:br/>
            <a:r>
              <a:t>📈 트래픽 그래프</a:t>
            </a:r>
            <a:br/>
            <a:r>
              <a:t>[최근 7일 차트]</a:t>
            </a:r>
            <a:br/>
            <a:br/>
            <a:r>
              <a:t>⚠️ 시스템 알림</a:t>
            </a:r>
            <a:br/>
            <a:r>
              <a:t>• 저장공간 80%</a:t>
            </a:r>
            <a:br/>
            <a:r>
              <a:t>• 백업 완료</a:t>
            </a:r>
            <a:br/>
            <a:br/>
            <a:r>
              <a:t>👥 사용자 관리</a:t>
            </a:r>
            <a:br/>
            <a:r>
              <a:t>📚 지식 관리</a:t>
            </a:r>
            <a:br/>
            <a:r>
              <a:t>📁 카테고리 관리</a:t>
            </a:r>
            <a:br/>
            <a:r>
              <a:t>⚙️ 시스템 설정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005840"/>
            <a:ext cx="3474720" cy="2194560"/>
          </a:xfrm>
          <a:prstGeom prst="roundRect">
            <a:avLst/>
          </a:prstGeom>
          <a:solidFill>
            <a:srgbClr val="EFEBE9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59" y="109728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📋 스토리보드 상세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1417320"/>
            <a:ext cx="3291839" cy="1691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프로필: 사진, 정보, 통계, 활동 그래프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설정 메뉴: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알림 (이메일, 푸시)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화면 (테마, 폰트)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보안 (2FA, 세션)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데이터 (내보내기)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관리자 전용: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사용자 관리 (역할, 상태)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지식 관리 (승인, 반려)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  - 카테고리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38328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59" y="3474720"/>
            <a:ext cx="32918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⚠️ 개발자 주의사항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3794760"/>
            <a:ext cx="3291839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🔐 권한 체계: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USER: 기본 기능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KNOWLEDGE_MANAGER: 지식 승인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ADMIN: 전체 관리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📡 API: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GET/PUT /api/v1/users/me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GET /api/v1/admin/stats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PUT /api/v1/admin/users/:id/role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🎨 UI/UX: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권한 부족 시 403 페이지</a:t>
            </a:r>
          </a:p>
          <a:p>
            <a:pPr>
              <a:spcAft>
                <a:spcPts val="300"/>
              </a:spcAft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감사 로그 기록 필수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t>7. 웹코더 &amp; 개발자 구현 가이드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28346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🛠️ 기술 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React 18 + TypeScript 5.0</a:t>
            </a:r>
            <a:br/>
            <a:r>
              <a:t>• TailwindCSS</a:t>
            </a:r>
            <a:br/>
            <a:r>
              <a:t>• Zustand (클라이언트 상태)</a:t>
            </a:r>
            <a:br/>
            <a:r>
              <a:t>• TanStack Query (서버 상태)</a:t>
            </a:r>
            <a:br/>
            <a:r>
              <a:t>• React Router v6</a:t>
            </a:r>
            <a:br/>
            <a:br/>
            <a:r>
              <a:t>📦 라이브러리:</a:t>
            </a:r>
            <a:br/>
            <a:r>
              <a:t>• Tiptap (에디터)</a:t>
            </a:r>
            <a:br/>
            <a:r>
              <a:t>• react-virtualized</a:t>
            </a:r>
            <a:br/>
            <a:r>
              <a:t>• react-hook-form</a:t>
            </a:r>
            <a:br/>
            <a:r>
              <a:t>• axios + interceptor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05840"/>
            <a:ext cx="283464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0972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📱 반응형 &amp; 접근성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417320"/>
            <a:ext cx="2651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t>📐 브레이크포인트:</a:t>
            </a:r>
            <a:br/>
            <a:r>
              <a:t>• Desktop: 1280px+</a:t>
            </a:r>
            <a:br/>
            <a:r>
              <a:t>• Tablet: 768px ~ 1279px</a:t>
            </a:r>
            <a:br/>
            <a:r>
              <a:t>• Mobile: &lt; 768px</a:t>
            </a:r>
            <a:br/>
            <a:br/>
            <a:r>
              <a:t>♿ 접근성:</a:t>
            </a:r>
            <a:br/>
            <a:r>
              <a:t>• aria-label 필수</a:t>
            </a:r>
            <a:br/>
            <a:r>
              <a:t>• 키보드 네비게이션</a:t>
            </a:r>
            <a:br/>
            <a:r>
              <a:t>• 색상 대비 4.5:1</a:t>
            </a:r>
            <a:br/>
            <a:r>
              <a:t>• 포커스 표시</a:t>
            </a:r>
            <a:br/>
            <a:r>
              <a:t>• 스크린리더 테스트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005840"/>
            <a:ext cx="274320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972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5548"/>
                </a:solidFill>
                <a:latin typeface="맑은 고딕"/>
              </a:defRPr>
            </a:pPr>
            <a:r>
              <a:t>⚡ 성능 &amp; 보안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41732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t>🚀 최적화:</a:t>
            </a:r>
            <a:br/>
            <a:r>
              <a:t>• 코드 스플리팅 (lazy)</a:t>
            </a:r>
            <a:br/>
            <a:r>
              <a:t>• 이미지 WebP</a:t>
            </a:r>
            <a:br/>
            <a:r>
              <a:t>• 가상화 목록</a:t>
            </a:r>
            <a:br/>
            <a:r>
              <a:t>• useMemo</a:t>
            </a:r>
            <a:br/>
            <a:br/>
            <a:r>
              <a:t>🔒 보안:</a:t>
            </a:r>
            <a:br/>
            <a:r>
              <a:t>• XSS: sanitize-html</a:t>
            </a:r>
            <a:br/>
            <a:r>
              <a:t>• CSRF: SameSite</a:t>
            </a:r>
            <a:br/>
            <a:r>
              <a:t>• 토큰: HttpOnly</a:t>
            </a:r>
            <a:br/>
            <a:r>
              <a:t>• 인증: PKCE + JWT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749039"/>
            <a:ext cx="4251960" cy="228600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840480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9800"/>
                </a:solidFill>
                <a:latin typeface="맑은 고딕"/>
              </a:defRPr>
            </a:pPr>
            <a:r>
              <a:t>📡 API 연동 주의사항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160520"/>
            <a:ext cx="4069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Base URL: /api/v1</a:t>
            </a:r>
            <a:br/>
            <a:r>
              <a:t>• 인증: Bearer Token</a:t>
            </a:r>
            <a:br/>
            <a:r>
              <a:t>• 에러: { code, message, details }</a:t>
            </a:r>
            <a:br/>
            <a:r>
              <a:t>• 페이지네이션: page, size, sort</a:t>
            </a:r>
            <a:br/>
            <a:br/>
            <a:r>
              <a:t>🔄 Axios Interceptor:</a:t>
            </a:r>
            <a:br/>
            <a:r>
              <a:t>• 401 → 토큰 갱신</a:t>
            </a:r>
            <a:br/>
            <a:r>
              <a:t>• 403 → 권한 없음 페이지</a:t>
            </a:r>
            <a:br/>
            <a:r>
              <a:t>• 500 → 에러 토스트</a:t>
            </a:r>
            <a:br/>
            <a:r>
              <a:t>• 네트워크 에러 → 재시도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3749039"/>
            <a:ext cx="4251960" cy="228600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3840480"/>
            <a:ext cx="4069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  <a:latin typeface="맑은 고딕"/>
              </a:defRPr>
            </a:pPr>
            <a:r>
              <a:t>🧪 테스트 &amp; 품질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4160520"/>
            <a:ext cx="4069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t>• 단위: Vitest (커버리지 80%+)</a:t>
            </a:r>
            <a:br/>
            <a:r>
              <a:t>• 컴포넌트: Testing Library</a:t>
            </a:r>
            <a:br/>
            <a:r>
              <a:t>• E2E: Playwright</a:t>
            </a:r>
            <a:br/>
            <a:r>
              <a:t>• 모킹: MSW</a:t>
            </a:r>
            <a:br/>
            <a:br/>
            <a:r>
              <a:t>✅ 품질 기준:</a:t>
            </a:r>
            <a:br/>
            <a:r>
              <a:t>• TypeScript strict</a:t>
            </a:r>
            <a:br/>
            <a:r>
              <a:t>• ESLint + Prettier</a:t>
            </a:r>
            <a:br/>
            <a:r>
              <a:t>• Lighthouse 90+</a:t>
            </a:r>
            <a:br/>
            <a:r>
              <a:t>• Chrome, Firefox, Safari, Edge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1887F"/>
                </a:solidFill>
                <a:latin typeface="맑은 고딕"/>
              </a:defRPr>
            </a:pPr>
            <a:r>
              <a:t>📱 반응형 디자인 (Desktop, Tablet, Mobile)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931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1887F"/>
                </a:solidFill>
                <a:latin typeface="맑은 고딕"/>
              </a:defRPr>
            </a:pPr>
            <a:r>
              <a:t>🔍 검색: 채팅 모드 (RAG) + 키워드 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1887F"/>
                </a:solidFill>
                <a:latin typeface="맑은 고딕"/>
              </a:defRPr>
            </a:pPr>
            <a:r>
              <a:t>📝 마크다운 에디터 + 실시간 미리보기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1887F"/>
                </a:solidFill>
                <a:latin typeface="맑은 고딕"/>
              </a:defRPr>
            </a:pPr>
            <a:r>
              <a:t>🔐 역할 기반 접근 제어 (USER, MANAGER, ADMIN)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303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1887F"/>
                </a:solidFill>
                <a:latin typeface="맑은 고딕"/>
              </a:defRPr>
            </a:pPr>
            <a:r>
              <a:t>♿ 웹 접근성 WCAG 2.1 AA 준수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