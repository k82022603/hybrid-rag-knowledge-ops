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4114800"/>
            <a:ext cx="4572000" cy="3657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프로젝트 완료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F5E9"/>
                </a:solidFill>
                <a:latin typeface="맑은 고딕"/>
              </a:defRPr>
            </a:pPr>
            <a:r>
              <a:t>Hybrid RAG Knowledge Operations — Graph RAG 기반 지능형 지식 검색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1F8E9"/>
                </a:solidFill>
                <a:latin typeface="맑은 고딕"/>
              </a:defRPr>
            </a:pPr>
            <a:r>
              <a:t>2026-01-12 ~ 2026-02-18 (38일, 12 스프린트)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I.   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II.  핵심 성과 지표 (KPI)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III. 기술 구현 — 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IV.  기술 구현 — 3-Phase ETL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V.   프로젝트 운영 — AI 에이전트 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03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VI.  프로젝트 운영 — 스프린트 타임라인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VII. 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VIII.비용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7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IX.  교훈 및 개선점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1499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X.  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I.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Graph RAG 기반 지능형 지식 검색 시스템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46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프로젝트명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Hybrid RAG Knowledge Operations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목적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기업 내부 문서를 자동 처리하여 4-Way Hybrid Search + Knowledge Graph로 최적 검색 제공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2026-01-12 ~ 2026-02-18 (38일, 12 스프린트)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개발 체계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1인 개발자 + Claude Code AI 에이전트 팀 (13개 에이전트)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기술 스택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Python 3.11 (FastAPI) + React 18 + SpringBoot 3.x + Docker Compose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데이터베이스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PostgreSQL (SSOT) + Elasticsearch 8.15 (Nori) + Neo4j (Graph)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DeepSeek V3.2 (런타임) + Claude Opus/Sonnet 4.6 (개발)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인프라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Docker Compose 18개 컨테이너 + Prometheus/Grafana/Kibana/Jaeger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최종 상태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사용자 테스트 완료, RAGAS A- 등급, 산출물 9종 v1.1 납품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핵심 성과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II. 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256032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5167" y="164592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686" y="2651760"/>
            <a:ext cx="13244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스프린트 완주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1371600"/>
            <a:ext cx="256032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89807" y="164592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6558" y="2651760"/>
            <a:ext cx="15039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테스트 커버리지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371600"/>
            <a:ext cx="2560320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4447" y="164592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A-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5987" y="2651760"/>
            <a:ext cx="11743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RAGAS 등급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647" y="1371600"/>
            <a:ext cx="256032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9087" y="164592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5142" y="2651760"/>
            <a:ext cx="9653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비용 절감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727" y="3840480"/>
            <a:ext cx="256032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167" y="411480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108K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0195" y="5120640"/>
            <a:ext cx="12073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처리 청크 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8367" y="3840480"/>
            <a:ext cx="2560320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89807" y="411480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92K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5862" y="5120640"/>
            <a:ext cx="9653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엔티티 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840480"/>
            <a:ext cx="2560320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4447" y="411480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775K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0270" y="5120640"/>
            <a:ext cx="7857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관계 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7647" y="3840480"/>
            <a:ext cx="256032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9087" y="4114800"/>
            <a:ext cx="23774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$52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660" y="5120640"/>
            <a:ext cx="8822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맑은 고딕"/>
              </a:defRPr>
            </a:pPr>
            <a:r>
              <a:rPr sz="1400"/>
              <a:t>ETL 비용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III. 기술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Triple-Store + 4-Way Hybrid Search 아키텍처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286000" cy="64008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rPr sz="1050"/>
              <a:t>Frontend</a:t>
            </a:r>
            <a:br>
              <a:rPr sz="1050"/>
            </a:br>
            <a:r>
              <a:rPr sz="1050"/>
              <a:t>React 18 + Tailwind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286000" cy="6400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API Gateway</a:t>
            </a:r>
            <a:br>
              <a:rPr sz="1050"/>
            </a:br>
            <a:r>
              <a:rPr sz="1050"/>
              <a:t>Spring Cloud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2286000" cy="6400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AI Service</a:t>
            </a:r>
            <a:br>
              <a:rPr sz="1050"/>
            </a:br>
            <a:r>
              <a:rPr sz="1050"/>
              <a:t>FastAPI + LangGraph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103120"/>
            <a:ext cx="0" cy="18288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00200" y="2926080"/>
            <a:ext cx="0" cy="18288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맑은 고딕"/>
              </a:defRPr>
            </a:pPr>
            <a:r>
              <a:t>Triple-Store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1554480" cy="1097280"/>
          </a:xfrm>
          <a:prstGeom prst="roundRect">
            <a:avLst/>
          </a:prstGeom>
          <a:solidFill>
            <a:srgbClr val="336791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rPr sz="1000"/>
              <a:t>PostgreSQL</a:t>
            </a:r>
            <a:br>
              <a:rPr sz="1000"/>
            </a:br>
            <a:r>
              <a:rPr sz="1000"/>
              <a:t>(SSOT)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Documents</a:t>
            </a:r>
            <a:br>
              <a:rPr sz="1000"/>
            </a:br>
            <a:r>
              <a:rPr sz="1000"/>
              <a:t>Chunks</a:t>
            </a:r>
            <a:br>
              <a:rPr sz="1000"/>
            </a:br>
            <a:r>
              <a:rPr sz="1000"/>
              <a:t>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1554480" cy="1097280"/>
          </a:xfrm>
          <a:prstGeom prst="roundRect">
            <a:avLst/>
          </a:prstGeom>
          <a:solidFill>
            <a:srgbClr val="00A9A5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rPr sz="1000"/>
              <a:t>Elasticsearch</a:t>
            </a:r>
            <a:br>
              <a:rPr sz="1000"/>
            </a:br>
            <a:r>
              <a:rPr sz="1000"/>
              <a:t>(Vector+BM25)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Dense Vector</a:t>
            </a:r>
            <a:br>
              <a:rPr sz="1000"/>
            </a:br>
            <a:r>
              <a:rPr sz="1000"/>
              <a:t>Sparse Vector</a:t>
            </a:r>
            <a:br>
              <a:rPr sz="1000"/>
            </a:br>
            <a:r>
              <a:rPr sz="1000"/>
              <a:t>Nori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828800"/>
            <a:ext cx="1554480" cy="1097280"/>
          </a:xfrm>
          <a:prstGeom prst="roundRect">
            <a:avLst/>
          </a:prstGeom>
          <a:solidFill>
            <a:srgbClr val="00833F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rPr sz="1000"/>
              <a:t>Neo4j</a:t>
            </a:r>
            <a:br>
              <a:rPr sz="1000"/>
            </a:br>
            <a:r>
              <a:rPr sz="1000"/>
              <a:t>(Graph)</a:t>
            </a:r>
            <a:br>
              <a:rPr sz="1000"/>
            </a:br>
            <a:r>
              <a:rPr sz="1000"/>
              <a:t/>
            </a:r>
            <a:br>
              <a:rPr sz="1000"/>
            </a:br>
            <a:r>
              <a:rPr sz="1000"/>
              <a:t>92K Entities</a:t>
            </a:r>
            <a:br>
              <a:rPr sz="1000"/>
            </a:br>
            <a:r>
              <a:rPr sz="1000"/>
              <a:t>775K 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맑은 고딕"/>
              </a:defRPr>
            </a:pPr>
            <a:r>
              <a:t>4-Way Hybrid Search + RRF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611880"/>
            <a:ext cx="1188720" cy="5029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Dense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11880"/>
            <a:ext cx="1188720" cy="5029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Sparse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11880"/>
            <a:ext cx="1188720" cy="5029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BM25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611880"/>
            <a:ext cx="1188720" cy="5029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rPr sz="1050"/>
              <a:t>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297680"/>
            <a:ext cx="3200400" cy="5029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rPr sz="1100"/>
              <a:t>RRF Fusion + BGE-Reranker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3429000"/>
            <a:ext cx="4572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03920" y="1371600"/>
            <a:ext cx="3383280" cy="4114800"/>
          </a:xfrm>
          <a:prstGeom prst="roundRect">
            <a:avLst/>
          </a:prstGeom>
          <a:solidFill>
            <a:srgbClr val="E2F0D9"/>
          </a:solidFill>
          <a:ln w="25400">
            <a:solidFill>
              <a:srgbClr val="C4D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1463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핵심 설계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1783080"/>
            <a:ext cx="3108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1. PostgreSQL이 문서 메타데이터의 Single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286000"/>
            <a:ext cx="3108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2. ES가 벡터 + 전문검색 동시 지원 (Nori 한국어 분석기)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788920"/>
            <a:ext cx="3108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3. Neo4j가 엔티티 관계 그래프 저장 및 서브그래프 질의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291839"/>
            <a:ext cx="3108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4. 4가지 검색을 RRF로 통합, Reranker로 최종 정렬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794759"/>
            <a:ext cx="3108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5. DeepSeek V3.2로 LLM 비용 95% 절감 (GPT-4o 대비)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3-Phase ETL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III. 기술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CPU/GPU 분리 전략으로 108K 청크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Phase 1 (CPU)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371600" cy="5486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문서 파싱</a:t>
            </a:r>
            <a:br/>
            <a:r>
              <a:t>Docling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011680"/>
            <a:ext cx="18288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1737360"/>
            <a:ext cx="1371600" cy="5486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청킹</a:t>
            </a:r>
            <a:br/>
            <a:r>
              <a:t>1000자 단위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28600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560320"/>
            <a:ext cx="292608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ES + PG + Neo4j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Phase 2 (GPU/Colab)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737360"/>
            <a:ext cx="1371600" cy="54864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Dense 임베딩</a:t>
            </a:r>
            <a:br/>
            <a:r>
              <a:t>ko-sroberta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2011680"/>
            <a:ext cx="18288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0" y="1737360"/>
            <a:ext cx="1371600" cy="54864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Sparse 임베딩</a:t>
            </a:r>
            <a:br/>
            <a:r>
              <a:t>BGE-M3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28600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0" y="2560320"/>
            <a:ext cx="292608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ES 임포트 (bulk)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Phase 3 (CPU)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737360"/>
            <a:ext cx="1554480" cy="5486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엔티티 추출</a:t>
            </a:r>
            <a:br/>
            <a:r>
              <a:t>DeepSeek V3.2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2011680"/>
            <a:ext cx="27432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1737360"/>
            <a:ext cx="1554480" cy="5486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관계 구축</a:t>
            </a:r>
            <a:br/>
            <a:r>
              <a:t>Neo4j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0" y="228600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0" y="2560320"/>
            <a:ext cx="338328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92K 엔티티, 775K 관계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474720"/>
          <a:ext cx="11247120" cy="1325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  <a:gridCol w="3017520"/>
              </a:tblGrid>
              <a:tr h="33146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처리량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소요시간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비용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3146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Phase 1 (파싱+청킹)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597 문서 → 108K 청크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~8시간 (CPU)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3146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Phase 2 (임베딩)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108K 청크 × 768d + Sparse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~2시간 (GPU)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$0 (Colab)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31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Phase 3 (엔티티)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92K 엔티티, 775K 관계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~40시간 (3워커)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$52 (DeepSeek)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AI 에이전트 팀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IV. 프로젝트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1인 개발자 + 13개 AI 에이전트 = 가상 개발팀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103120" cy="548640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사용자 (PO)</a:t>
            </a:r>
            <a:br/>
            <a:r>
              <a:t>요구사항 + 의사결정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92024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194560"/>
            <a:ext cx="3017520" cy="54864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Claude Code (Main)</a:t>
            </a:r>
            <a:br/>
            <a:r>
              <a:t>Opus 4.6 — 소통 + spawn/shutdown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74320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맑은 고딕"/>
              </a:defRPr>
            </a:pPr>
            <a:r>
              <a:t>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291840"/>
            <a:ext cx="128016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PM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291840"/>
            <a:ext cx="128016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rPr sz="1000"/>
              <a:t>TechLead</a:t>
            </a:r>
            <a:br>
              <a:rPr sz="1000"/>
            </a:br>
            <a:r>
              <a:rPr sz="1000"/>
              <a:t>Opus 4.6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맑은 고딕"/>
              </a:defRPr>
            </a:pPr>
            <a:r>
              <a:t>개발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291840"/>
            <a:ext cx="114300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Backend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91840"/>
            <a:ext cx="114300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Frontend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291840"/>
            <a:ext cx="114300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RAG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291840"/>
            <a:ext cx="114300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ETL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맑은 고딕"/>
              </a:defRPr>
            </a:pPr>
            <a:r>
              <a:t>인프라 / 품질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291840"/>
            <a:ext cx="8686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DB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291840"/>
            <a:ext cx="8686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Infra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291840"/>
            <a:ext cx="8686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DevOps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023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맑은 고딕"/>
              </a:defRPr>
            </a:pPr>
            <a:r>
              <a:t>설계 / 문서 / 품질 / 디자인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297680"/>
            <a:ext cx="15544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rPr sz="1000"/>
              <a:t>Architect</a:t>
            </a:r>
            <a:br>
              <a:rPr sz="1000"/>
            </a:br>
            <a:r>
              <a:rPr sz="1000"/>
              <a:t>Opus 4.6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4297680"/>
            <a:ext cx="15544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QA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297680"/>
            <a:ext cx="15544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Doc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4297680"/>
            <a:ext cx="1554480" cy="457200"/>
          </a:xfrm>
          <a:prstGeom prst="roundRect">
            <a:avLst/>
          </a:prstGeom>
          <a:solidFill>
            <a:srgbClr val="81C784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12121"/>
                </a:solidFill>
                <a:latin typeface="맑은 고딕"/>
              </a:defRPr>
            </a:pPr>
            <a:r>
              <a:rPr sz="1000"/>
              <a:t>WebDesigner</a:t>
            </a:r>
            <a:br>
              <a:rPr sz="1000"/>
            </a:br>
            <a:r>
              <a:rPr sz="1000"/>
              <a:t>Sonnet 4.6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023360"/>
            <a:ext cx="3657600" cy="2286000"/>
          </a:xfrm>
          <a:prstGeom prst="roundRect">
            <a:avLst/>
          </a:prstGeom>
          <a:solidFill>
            <a:srgbClr val="E2F0D9"/>
          </a:solidFill>
          <a:ln w="25400">
            <a:solidFill>
              <a:srgbClr val="C4D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41148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모델 티어링 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3484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1. Opus 4.6: TechLead, Architect (심층 추론)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93776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2. Sonnet 4.6: 나머지 11개 (73% 비용 절감)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44068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3. PM은 조율만, 코딩 금지 (역할 분리)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943600"/>
            <a:ext cx="3383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4. Slack/Jira 자동 연동 (MCP + Shell)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스프린트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IV. 프로젝트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38일간 12 스프린트 — 3일 단위 애자일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418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5943600"/>
                <a:gridCol w="731520"/>
              </a:tblGrid>
              <a:tr h="3235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Sprint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산출물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01/12~14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프로젝트 셋업, Docker Compose 18컨테이너, ETL 기본 파이프라인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01/15~17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AI Service 핵심 API, Hybrid Search v1, 설계 문서 체계화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01/18~22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4-Way Hybrid Search, RRF Fusion, 프론트엔드 기본 UI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01/23~25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Tailwind 전환, Antigravity 도입, API Gateway 라우팅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01/26~28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PM 워크플로우, Agent Teams v1, 백로그 체계화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01/29~31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E2E 테스트, 기술부채 해소, Production-Ready 95.75%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02/01~03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Frontend 고도화, Graph Panel, 문서 업로드 UI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02/04~07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Unit Test 97%, Docker 최적화, Agent Teams v2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09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02/08~10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ETL v2 Full Re-Processing, 임베딩 108K 청크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02/11~13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RAGAS v7~v9, Nori 적용, Sparse Vector 복구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11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02/14~16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ETL 3-Phase 확립, Entity Extraction 92K, Graph Search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Sprint 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02/17~18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사용자 테스트, 산출물 9종 v1.1, 모델 티어링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프로젝트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V.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9종 핵심 산출물 + 14종 프로젝트 가이드 문서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4183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731520"/>
                <a:gridCol w="4114800"/>
                <a:gridCol w="1828800"/>
              </a:tblGrid>
              <a:tr h="3246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산출물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상세 설계서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v2.4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docs/02_design/01_*.md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Gleaning 포함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API 통합 설계서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docs/02_design/04_*.md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FastAPI + Gateway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인프라 설계서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docs/02_design/10_*.md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18개 컨테이너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테스트 계획서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docs/04_testing/01_*.md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TDD/Test-Along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RAGAS 평가 보고서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docs/04_testing/12_*.md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A- 등급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운영 매뉴얼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docs/08_deliverables/03_*.md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ETL 상세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사용자 매뉴얼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docs/08_deliverables/02_*.md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endParaRPr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소스코드 리뷰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v1.0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docs/08_deliverables/01_*.md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B+ (72.5/100)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프로젝트 계획서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v5.2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PLAN.md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Final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rPr sz="1200"/>
              <a:t>프로젝트 가이드 문서 (14종): docs/01_~12_ + 13_사업방법론 + 14_개발방법론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비용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VI.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전체 운영 비용 $52 — DeepSeek V3.2 기반 95% 절감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371600"/>
                <a:gridCol w="43891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세부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비용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LLM (DeepSeek V3.2)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엔티티 추출 40시간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$52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GPT-4o 대비 95% 절감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임베딩 (Colab GPU)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BGE-M3 + ko-sroberta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Google Colab 무료 GPU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인프라 (Docker)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18개 컨테이너 로컬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개발 환경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AI 에이전트 (Claude)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Opus 4.6 + Sonnet 4.6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별도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Claude Code 구독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Jira / Slack / GitHub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SaaS 도구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무료 티어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endParaRPr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$52+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endParaRPr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5029200" cy="1828800"/>
          </a:xfrm>
          <a:prstGeom prst="roundRect">
            <a:avLst/>
          </a:prstGeom>
          <a:solidFill>
            <a:srgbClr val="E2F0D9"/>
          </a:solidFill>
          <a:ln w="25400">
            <a:solidFill>
              <a:srgbClr val="C4D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6634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비용 절감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8348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1. GPT-4o로 동일 작업 시 추정 비용: ~$1,040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2. DeepSeek V3.2 실제 비용: $52 (95% 절감)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89320"/>
            <a:ext cx="47548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3. 품질 차이: 무시할 수준 (RAGAS A- 등급)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572000"/>
            <a:ext cx="5943600" cy="1828800"/>
          </a:xfrm>
          <a:prstGeom prst="roundRect">
            <a:avLst/>
          </a:prstGeom>
          <a:solidFill>
            <a:srgbClr val="E2F0D9"/>
          </a:solidFill>
          <a:ln w="25400">
            <a:solidFill>
              <a:srgbClr val="C4D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46634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AI 도구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98348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1. Claude Code: 개발 생산성 극대화 (38일 완주)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548640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2. Agent Teams: 13개 에이전트 병렬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98932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3. Sonnet 4.6 전환: 에이전트 비용 73% 추가 절감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교훈 및 개선점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VII. 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38일간의 실전 경험에서 도출된 핵심 교훈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15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3657600"/>
                <a:gridCol w="4206240"/>
              </a:tblGrid>
              <a:tr h="3276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원인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Mock 테스트 사고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02/05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Mock 모드로 테스트 → 실제 품질 미검증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반드시 Docker 환경에서 실제 테스트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Nori 미적용 사고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01/12~02/13</a:t>
                      </a:r>
                    </a:p>
                    <a:p>
                      <a:r>
                        <a:t>(32일)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ES Dockerfile 누락 → Nori 미설치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설계서 ≠ 구현, E2E 검증 필수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RAGAS NaN 27%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ragas 0.4.3 + DeepSeek n&gt;1 미지원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LLM API 제약사항 사전 확인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능동적 대처 부족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사용자에게 불필요한 확인 질문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실측 데이터 기반 즉시 실행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우회 대신 근본 해결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02/14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docker cp 임시 대응, .dockerignore 미확인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근본 원인 파악 후 올바른 해결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745230"/>
            <a:ext cx="11247120" cy="2560320"/>
          </a:xfrm>
          <a:prstGeom prst="roundRect">
            <a:avLst/>
          </a:prstGeom>
          <a:solidFill>
            <a:srgbClr val="E2F0D9"/>
          </a:solidFill>
          <a:ln w="25400">
            <a:solidFill>
              <a:srgbClr val="C4D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83667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핵심 원칙 (4가지)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5671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1. "설계서에 적혀 있다고 구현된 것이 아니다" — 반드시 실동작 E2E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5963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2. "PM은 조율하고, 개발자가 구현한다" — 역할 분리 원칙 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6255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3. "물어보지 말고 실행하라" — 실측 데이터로 판단 가능하면 즉시 실행 후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6547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rPr sz="1050"/>
              <a:t>4. "귀찮은 것 빼먹지 마라" — 빠른 방법보다 올바른 방법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01168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8F5E9"/>
                </a:solidFill>
                <a:latin typeface="맑은 고딕"/>
              </a:defRPr>
            </a:pPr>
            <a:r>
              <a:t>VIII. 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72197"/>
            <a:ext cx="11247120" cy="109728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1인 개발자 + Claude Code AI 에이전트 팀으로</a:t>
            </a:r>
            <a:br/>
            <a:r>
              <a:t>38일간 엔터프라이즈급 RAG 시스템을 설계/구현/테스트/문서화까지 완수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3797"/>
            <a:ext cx="26974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기술 성과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92437"/>
            <a:ext cx="2697480" cy="873955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rPr sz="1200"/>
              <a:t>4-Way Hybrid Search</a:t>
            </a:r>
            <a:br>
              <a:rPr sz="1200"/>
            </a:br>
            <a:r>
              <a:rPr sz="1200"/>
              <a:t>Triple-Store</a:t>
            </a:r>
            <a:br>
              <a:rPr sz="1200"/>
            </a:br>
            <a:r>
              <a:rPr sz="1200"/>
              <a:t>3-Phase ETL</a:t>
            </a:r>
            <a:br>
              <a:rPr sz="1200"/>
            </a:br>
            <a:r>
              <a:rPr sz="1200"/>
              <a:t>RAGAS A- 등급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243797"/>
            <a:ext cx="26974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생산성 성과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792437"/>
            <a:ext cx="2697480" cy="873955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rPr sz="1200"/>
              <a:t>38일 12스프린트</a:t>
            </a:r>
            <a:br>
              <a:rPr sz="1200"/>
            </a:br>
            <a:r>
              <a:rPr sz="1200"/>
              <a:t>120+ 스토리</a:t>
            </a:r>
            <a:br>
              <a:rPr sz="1200"/>
            </a:br>
            <a:r>
              <a:rPr sz="1200"/>
              <a:t>97% 테스트 커버리지</a:t>
            </a:r>
            <a:br>
              <a:rPr sz="1200"/>
            </a:br>
            <a:r>
              <a:rPr sz="1200"/>
              <a:t>산출물 9종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43797"/>
            <a:ext cx="26974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비용 성과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92437"/>
            <a:ext cx="2697480" cy="873955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rPr sz="1200"/>
              <a:t>LLM 비용 $52</a:t>
            </a:r>
            <a:br>
              <a:rPr sz="1200"/>
            </a:br>
            <a:r>
              <a:rPr sz="1200"/>
              <a:t>95% 절감 (vs GPT-4o)</a:t>
            </a:r>
            <a:br>
              <a:rPr sz="1200"/>
            </a:br>
            <a:r>
              <a:rPr sz="1200"/>
              <a:t>Colab GPU 무료</a:t>
            </a:r>
            <a:br>
              <a:rPr sz="1200"/>
            </a:br>
            <a:r>
              <a:rPr sz="1200"/>
              <a:t>에이전트 73% 절감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2243797"/>
            <a:ext cx="269748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방법론 성과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792437"/>
            <a:ext cx="2697480" cy="873955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12121"/>
                </a:solidFill>
                <a:latin typeface="맑은 고딕"/>
              </a:defRPr>
            </a:pPr>
            <a:r>
              <a:rPr sz="1200"/>
              <a:t>Agent Teams v3.1</a:t>
            </a:r>
            <a:br>
              <a:rPr sz="1200"/>
            </a:br>
            <a:r>
              <a:rPr sz="1200"/>
              <a:t>13개 AI 에이전트</a:t>
            </a:r>
            <a:br>
              <a:rPr sz="1200"/>
            </a:br>
            <a:r>
              <a:rPr sz="1200"/>
              <a:t>역할 분리 원칙</a:t>
            </a:r>
            <a:br>
              <a:rPr sz="1200"/>
            </a:br>
            <a:r>
              <a:rPr sz="1200"/>
              <a:t>자동화 워크플로우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66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향후 과제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50054"/>
              </p:ext>
            </p:extLst>
          </p:nvPr>
        </p:nvGraphicFramePr>
        <p:xfrm>
          <a:off x="457200" y="4075234"/>
          <a:ext cx="11247120" cy="26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7132320"/>
              </a:tblGrid>
              <a:tr h="32918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과제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K8s 배포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미구현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Docker Compose → K8s 전환 참조 설계 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TLS/HTTPS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미구현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운영 환경 배포 시 적용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Gleaning (반복 추출)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ko-KR" altLang="en-US" smtClean="0"/>
                        <a:t>미구현 </a:t>
                      </a:r>
                      <a:r>
                        <a:rPr lang="en-US" altLang="ko-KR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smtClean="0"/>
                        <a:t>구현</a:t>
                      </a:r>
                      <a:endParaRPr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ko-KR" altLang="en-US" smtClean="0"/>
                        <a:t>● </a:t>
                      </a:r>
                      <a:r>
                        <a:rPr lang="en-US" altLang="ko-KR" smtClean="0"/>
                        <a:t>Gleaning</a:t>
                      </a:r>
                      <a:r>
                        <a:rPr lang="ko-KR" altLang="en-US" smtClean="0"/>
                        <a:t>은 구현되어 있고</a:t>
                      </a:r>
                      <a:r>
                        <a:rPr lang="en-US" altLang="ko-KR" smtClean="0"/>
                        <a:t>, </a:t>
                      </a:r>
                      <a:r>
                        <a:rPr lang="ko-KR" altLang="en-US" smtClean="0"/>
                        <a:t>실제로 사용되었습니다</a:t>
                      </a:r>
                      <a:r>
                        <a:rPr lang="en-US" altLang="ko-KR" smtClean="0"/>
                        <a:t>.                                        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en-US" altLang="ko-KR" smtClean="0"/>
                        <a:t>                    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en-US" altLang="ko-KR" smtClean="0"/>
                        <a:t>  </a:t>
                      </a:r>
                      <a:r>
                        <a:rPr lang="ko-KR" altLang="en-US" smtClean="0"/>
                        <a:t>핵심 코드</a:t>
                      </a:r>
                      <a:r>
                        <a:rPr lang="en-US" altLang="ko-KR" smtClean="0"/>
                        <a:t>:                                                                              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en-US" altLang="ko-KR" smtClean="0"/>
                        <a:t>                                                                                          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en-US" altLang="ko-KR" smtClean="0"/>
                        <a:t>  - entity_extraction.py:238-255 — _gleaning_pass() </a:t>
                      </a:r>
                      <a:r>
                        <a:rPr lang="ko-KR" altLang="en-US" smtClean="0"/>
                        <a:t>메서드로 다중 패스 추출 구현          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ko-KR" altLang="en-US" smtClean="0"/>
                        <a:t>    </a:t>
                      </a:r>
                      <a:r>
                        <a:rPr lang="en-US" altLang="ko-KR" smtClean="0"/>
                        <a:t>- 1</a:t>
                      </a:r>
                      <a:r>
                        <a:rPr lang="ko-KR" altLang="en-US" smtClean="0"/>
                        <a:t>차 추출 → 기존 엔티티를 보여주며 </a:t>
                      </a:r>
                      <a:r>
                        <a:rPr lang="en-US" altLang="ko-KR" smtClean="0"/>
                        <a:t>"</a:t>
                      </a:r>
                      <a:r>
                        <a:rPr lang="ko-KR" altLang="en-US" smtClean="0"/>
                        <a:t>누락된 것 있는지</a:t>
                      </a:r>
                      <a:r>
                        <a:rPr lang="en-US" altLang="ko-KR" smtClean="0"/>
                        <a:t>" LLM</a:t>
                      </a:r>
                      <a:r>
                        <a:rPr lang="ko-KR" altLang="en-US" smtClean="0"/>
                        <a:t>에 재질문 → 추가 엔티티 수집                                    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ko-KR" altLang="en-US" smtClean="0"/>
                        <a:t>  </a:t>
                      </a:r>
                      <a:r>
                        <a:rPr lang="en-US" altLang="ko-KR" smtClean="0"/>
                        <a:t>- config.py:154 — max_gleanings: int = 2 (</a:t>
                      </a:r>
                      <a:r>
                        <a:rPr lang="ko-KR" altLang="en-US" smtClean="0"/>
                        <a:t>기본값 </a:t>
                      </a:r>
                      <a:r>
                        <a:rPr lang="en-US" altLang="ko-KR" smtClean="0"/>
                        <a:t>2</a:t>
                      </a:r>
                      <a:r>
                        <a:rPr lang="ko-KR" altLang="en-US" smtClean="0"/>
                        <a:t>회 반복</a:t>
                      </a:r>
                      <a:r>
                        <a:rPr lang="en-US" altLang="ko-KR" smtClean="0"/>
                        <a:t>)  </a:t>
                      </a:r>
                    </a:p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rPr lang="en-US" altLang="ko-KR" smtClean="0"/>
                        <a:t>  - batch_entity_extraction.py:228 — </a:t>
                      </a:r>
                      <a:r>
                        <a:rPr lang="ko-KR" altLang="en-US" smtClean="0"/>
                        <a:t>실제 배치에서 </a:t>
                      </a:r>
                      <a:r>
                        <a:rPr lang="en-US" altLang="ko-KR" smtClean="0"/>
                        <a:t>enable_gleaning=True</a:t>
                      </a:r>
                      <a:r>
                        <a:rPr lang="ko-KR" altLang="en-US" smtClean="0"/>
                        <a:t>로 호출</a:t>
                      </a:r>
                      <a:endParaRPr/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RBAC 세분화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미구현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맑은 고딕"/>
                        </a:defRPr>
                      </a:pPr>
                      <a:r>
                        <a:t>Keycloak 기본 설정만 완료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4114800"/>
            <a:ext cx="4572000" cy="3657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F5E9"/>
                </a:solidFill>
                <a:latin typeface="맑은 고딕"/>
              </a:defRPr>
            </a:pPr>
            <a:r>
              <a:t>Hybrid RAG Knowledge Operations</a:t>
            </a:r>
            <a:br/>
            <a:r>
              <a:t>2026-01-12 ~ 2026-02-18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1371</Words>
  <Application>Microsoft Office PowerPoint</Application>
  <PresentationFormat>와이드스크린</PresentationFormat>
  <Paragraphs>349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KTDS</cp:lastModifiedBy>
  <cp:revision>3</cp:revision>
  <dcterms:created xsi:type="dcterms:W3CDTF">2013-01-27T09:14:16Z</dcterms:created>
  <dcterms:modified xsi:type="dcterms:W3CDTF">2026-02-20T12:21:41Z</dcterms:modified>
  <cp:category/>
</cp:coreProperties>
</file>